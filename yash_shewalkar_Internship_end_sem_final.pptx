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98" r:id="rId6"/>
  </p:sldMasterIdLst>
  <p:notesMasterIdLst>
    <p:notesMasterId r:id="rId21"/>
  </p:notesMasterIdLst>
  <p:sldIdLst>
    <p:sldId id="2147479618" r:id="rId7"/>
    <p:sldId id="2147479606" r:id="rId8"/>
    <p:sldId id="369" r:id="rId9"/>
    <p:sldId id="2147477144" r:id="rId10"/>
    <p:sldId id="2147479619" r:id="rId11"/>
    <p:sldId id="2147479616" r:id="rId12"/>
    <p:sldId id="462" r:id="rId13"/>
    <p:sldId id="2147479622" r:id="rId14"/>
    <p:sldId id="2147479620" r:id="rId15"/>
    <p:sldId id="2147479623" r:id="rId16"/>
    <p:sldId id="2147479625" r:id="rId17"/>
    <p:sldId id="2147479624" r:id="rId18"/>
    <p:sldId id="2147479605" r:id="rId19"/>
    <p:sldId id="2147479621"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AA8674-950C-450D-B25E-8FEA41CAE0B0}">
          <p14:sldIdLst>
            <p14:sldId id="2147479618"/>
            <p14:sldId id="2147479606"/>
            <p14:sldId id="369"/>
            <p14:sldId id="2147477144"/>
            <p14:sldId id="2147479619"/>
            <p14:sldId id="2147479616"/>
            <p14:sldId id="462"/>
            <p14:sldId id="2147479622"/>
            <p14:sldId id="2147479620"/>
            <p14:sldId id="2147479623"/>
            <p14:sldId id="2147479625"/>
            <p14:sldId id="2147479624"/>
            <p14:sldId id="2147479605"/>
            <p14:sldId id="21474796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5024" autoAdjust="0"/>
  </p:normalViewPr>
  <p:slideViewPr>
    <p:cSldViewPr snapToGrid="0">
      <p:cViewPr varScale="1">
        <p:scale>
          <a:sx n="84" d="100"/>
          <a:sy n="84" d="100"/>
        </p:scale>
        <p:origin x="66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D5D317-6388-442B-9953-FD6C0311D49B}"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E13FE-ED0C-4949-A7B3-511B88964E45}" type="slidenum">
              <a:rPr lang="en-US" smtClean="0"/>
              <a:t>‹#›</a:t>
            </a:fld>
            <a:endParaRPr lang="en-US"/>
          </a:p>
        </p:txBody>
      </p:sp>
    </p:spTree>
    <p:extLst>
      <p:ext uri="{BB962C8B-B14F-4D97-AF65-F5344CB8AC3E}">
        <p14:creationId xmlns:p14="http://schemas.microsoft.com/office/powerpoint/2010/main" val="3128907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E13FE-ED0C-4949-A7B3-511B88964E45}" type="slidenum">
              <a:rPr lang="en-US" smtClean="0"/>
              <a:t>2</a:t>
            </a:fld>
            <a:endParaRPr lang="en-US"/>
          </a:p>
        </p:txBody>
      </p:sp>
    </p:spTree>
    <p:extLst>
      <p:ext uri="{BB962C8B-B14F-4D97-AF65-F5344CB8AC3E}">
        <p14:creationId xmlns:p14="http://schemas.microsoft.com/office/powerpoint/2010/main" val="1277433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7B4C-C8DD-867E-FFFF-53B61C44B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97C9B-FF8D-7D59-9AB9-48DEC3BA3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1D899-1E4E-8F9B-EDC7-E8DE765D781D}"/>
              </a:ext>
            </a:extLst>
          </p:cNvPr>
          <p:cNvSpPr>
            <a:spLocks noGrp="1"/>
          </p:cNvSpPr>
          <p:nvPr>
            <p:ph type="body" idx="1"/>
          </p:nvPr>
        </p:nvSpPr>
        <p:spPr/>
        <p:txBody>
          <a:bodyPr/>
          <a:lstStyle/>
          <a:p>
            <a:pPr marL="285750" indent="-285750">
              <a:buFont typeface="Arial"/>
              <a:buChar char="•"/>
            </a:pPr>
            <a:r>
              <a:rPr lang="en-US" b="1"/>
              <a:t>Scope</a:t>
            </a:r>
            <a:endParaRPr lang="en-US"/>
          </a:p>
          <a:p>
            <a:pPr marL="285750" indent="-285750">
              <a:buFont typeface="Arial,Sans-Serif"/>
              <a:buChar char="•"/>
            </a:pPr>
            <a:r>
              <a:rPr lang="en-US"/>
              <a:t>Automate the conversion of source data to target data.</a:t>
            </a:r>
            <a:endParaRPr lang="en-US">
              <a:ea typeface="Calibri"/>
              <a:cs typeface="Calibri"/>
            </a:endParaRPr>
          </a:p>
          <a:p>
            <a:pPr marL="285750" indent="-285750">
              <a:buFont typeface="Arial,Sans-Serif"/>
              <a:buChar char="•"/>
            </a:pPr>
            <a:r>
              <a:rPr lang="en-US"/>
              <a:t>Ensure schema matching and data integrity.</a:t>
            </a:r>
          </a:p>
          <a:p>
            <a:pPr marL="285750" indent="-285750">
              <a:buFont typeface="Arial,Sans-Serif"/>
              <a:buChar char="•"/>
            </a:pPr>
            <a:r>
              <a:rPr lang="en-US"/>
              <a:t>Enhance efficiency and reduce manual intervention.</a:t>
            </a:r>
            <a:endParaRPr lang="en-US">
              <a:ea typeface="Calibri"/>
              <a:cs typeface="Calibri"/>
            </a:endParaRPr>
          </a:p>
        </p:txBody>
      </p:sp>
      <p:sp>
        <p:nvSpPr>
          <p:cNvPr id="4" name="Slide Number Placeholder 3">
            <a:extLst>
              <a:ext uri="{FF2B5EF4-FFF2-40B4-BE49-F238E27FC236}">
                <a16:creationId xmlns:a16="http://schemas.microsoft.com/office/drawing/2014/main" id="{C9EBBBC2-EFB2-6593-D478-50BD71575FE7}"/>
              </a:ext>
            </a:extLst>
          </p:cNvPr>
          <p:cNvSpPr>
            <a:spLocks noGrp="1"/>
          </p:cNvSpPr>
          <p:nvPr>
            <p:ph type="sldNum" sz="quarter" idx="5"/>
          </p:nvPr>
        </p:nvSpPr>
        <p:spPr/>
        <p:txBody>
          <a:bodyPr/>
          <a:lstStyle/>
          <a:p>
            <a:fld id="{9A7E13FE-ED0C-4949-A7B3-511B88964E45}" type="slidenum">
              <a:rPr lang="en-US" smtClean="0"/>
              <a:t>4</a:t>
            </a:fld>
            <a:endParaRPr lang="en-US"/>
          </a:p>
        </p:txBody>
      </p:sp>
    </p:spTree>
    <p:extLst>
      <p:ext uri="{BB962C8B-B14F-4D97-AF65-F5344CB8AC3E}">
        <p14:creationId xmlns:p14="http://schemas.microsoft.com/office/powerpoint/2010/main" val="40051226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pic>
        <p:nvPicPr>
          <p:cNvPr id="7" name="Cognisphere">
            <a:extLst>
              <a:ext uri="{FF2B5EF4-FFF2-40B4-BE49-F238E27FC236}">
                <a16:creationId xmlns:a16="http://schemas.microsoft.com/office/drawing/2014/main" id="{D7731DAF-8548-E047-9040-C218A555D82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714"/>
            <a:ext cx="12192000" cy="6854572"/>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a:t>Click to edit Master title style 80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2022 | Siemens Digital Industries Software | Where today meets tomorrow. </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256603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pic>
        <p:nvPicPr>
          <p:cNvPr id="7" name="Cognisphere" descr="A close up of a light&#10;&#10;Description automatically generated">
            <a:extLst>
              <a:ext uri="{FF2B5EF4-FFF2-40B4-BE49-F238E27FC236}">
                <a16:creationId xmlns:a16="http://schemas.microsoft.com/office/drawing/2014/main" id="{F50DEF7C-D243-494F-A738-41FC9AF515A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a:t>Click to edit </a:t>
            </a:r>
            <a:br>
              <a:rPr lang="en-US"/>
            </a:br>
            <a:r>
              <a:rPr lang="en-US"/>
              <a:t>Master title style</a:t>
            </a:r>
            <a:br>
              <a:rPr lang="en-US"/>
            </a:br>
            <a:r>
              <a:rPr lang="en-US"/>
              <a:t>M3 lines 60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2022 | Siemens Digital Industries Software | Where today meets tomorrow. </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5855511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pic>
        <p:nvPicPr>
          <p:cNvPr id="7" name="Cognisphere" descr="A picture containing light, star&#10;&#10;Description automatically generated">
            <a:extLst>
              <a:ext uri="{FF2B5EF4-FFF2-40B4-BE49-F238E27FC236}">
                <a16:creationId xmlns:a16="http://schemas.microsoft.com/office/drawing/2014/main" id="{AA220E05-4C1E-4F58-BFC0-57C07A95F70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a:t>Click to edit </a:t>
            </a:r>
            <a:br>
              <a:rPr lang="en-US"/>
            </a:br>
            <a:r>
              <a:rPr lang="en-US"/>
              <a:t>Master title style</a:t>
            </a:r>
            <a:br>
              <a:rPr lang="en-US"/>
            </a:br>
            <a:r>
              <a:rPr lang="en-US"/>
              <a:t>extra long headlines</a:t>
            </a:r>
            <a:br>
              <a:rPr lang="en-US"/>
            </a:br>
            <a:r>
              <a:rPr lang="en-US"/>
              <a:t>4 lines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5361778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Gradient DB–Petrol 8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7" name="Cognisphere" descr="Background pattern&#10;&#10;Description automatically generated">
            <a:extLst>
              <a:ext uri="{FF2B5EF4-FFF2-40B4-BE49-F238E27FC236}">
                <a16:creationId xmlns:a16="http://schemas.microsoft.com/office/drawing/2014/main" id="{70837433-2C09-4518-AF0D-697A97CAC3A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a:t>Click to edit Master title style 80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80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650122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Gradient DB–Petrol 6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Background pattern&#10;&#10;Description automatically generated">
            <a:extLst>
              <a:ext uri="{FF2B5EF4-FFF2-40B4-BE49-F238E27FC236}">
                <a16:creationId xmlns:a16="http://schemas.microsoft.com/office/drawing/2014/main" id="{DF3DAF0E-BB8A-4082-8CE7-1BBCE61C8CD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769989"/>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a:t>Click to edit </a:t>
            </a:r>
            <a:br>
              <a:rPr lang="en-US"/>
            </a:br>
            <a:r>
              <a:rPr lang="en-US"/>
              <a:t>Master title style</a:t>
            </a:r>
            <a:br>
              <a:rPr lang="en-US"/>
            </a:br>
            <a:r>
              <a:rPr lang="en-US"/>
              <a:t>3 lines 60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1"/>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8043575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Gradient DB–Petrol 4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A picture containing background pattern&#10;&#10;Description automatically generated">
            <a:extLst>
              <a:ext uri="{FF2B5EF4-FFF2-40B4-BE49-F238E27FC236}">
                <a16:creationId xmlns:a16="http://schemas.microsoft.com/office/drawing/2014/main" id="{DE598EC2-770B-4F85-A209-57F0E77094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a:t>Click to edit </a:t>
            </a:r>
            <a:br>
              <a:rPr lang="en-US"/>
            </a:br>
            <a:r>
              <a:rPr lang="en-US"/>
              <a:t>Master title style</a:t>
            </a:r>
            <a:br>
              <a:rPr lang="en-US"/>
            </a:br>
            <a:r>
              <a:rPr lang="en-US"/>
              <a:t>extra long headlines</a:t>
            </a:r>
            <a:br>
              <a:rPr lang="en-US"/>
            </a:br>
            <a:r>
              <a:rPr lang="en-US"/>
              <a:t>4 lines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9736944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a:extLst>
                <a:ext uri="{96DAC541-7B7A-43D3-8B79-37D633B846F1}">
                  <asvg:svgBlip xmlns:asvg="http://schemas.microsoft.com/office/drawing/2016/SVG/main" r:embed="rId2"/>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a:t>Click to edit </a:t>
            </a:r>
            <a:br>
              <a:rPr lang="en-US"/>
            </a:br>
            <a:r>
              <a:rPr lang="en-US"/>
              <a:t>Master title style 48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9942258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a:extLst>
                <a:ext uri="{96DAC541-7B7A-43D3-8B79-37D633B846F1}">
                  <asvg:svgBlip xmlns:asvg="http://schemas.microsoft.com/office/drawing/2016/SVG/main" r:embed="rId2"/>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a:t>Click to edit </a:t>
            </a:r>
            <a:br>
              <a:rPr lang="en-US"/>
            </a:br>
            <a:r>
              <a:rPr lang="en-US"/>
              <a:t>Master title style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6756897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a:t>Click to edit </a:t>
            </a:r>
            <a:br>
              <a:rPr lang="en-US"/>
            </a:br>
            <a:r>
              <a:rPr lang="en-US"/>
              <a:t>Master title style </a:t>
            </a:r>
            <a:br>
              <a:rPr lang="en-US"/>
            </a:br>
            <a:r>
              <a:rPr lang="en-US"/>
              <a:t>36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36 </a:t>
            </a:r>
            <a:r>
              <a:rPr lang="en-US" err="1"/>
              <a:t>pt</a:t>
            </a:r>
            <a:endParaRPr lang="en-US"/>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3964905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a:extLst>
                <a:ext uri="{96DAC541-7B7A-43D3-8B79-37D633B846F1}">
                  <asvg:svgBlip xmlns:asvg="http://schemas.microsoft.com/office/drawing/2016/SVG/main" r:embed="rId2"/>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a:t>Click to edit </a:t>
            </a:r>
            <a:br>
              <a:rPr lang="en-US"/>
            </a:br>
            <a:r>
              <a:rPr lang="en-US"/>
              <a:t>Master title style 48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5554077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a:extLst>
                <a:ext uri="{96DAC541-7B7A-43D3-8B79-37D633B846F1}">
                  <asvg:svgBlip xmlns:asvg="http://schemas.microsoft.com/office/drawing/2016/SVG/main" r:embed="rId2"/>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a:t>Click to edit </a:t>
            </a:r>
            <a:br>
              <a:rPr lang="en-US"/>
            </a:br>
            <a:r>
              <a:rPr lang="en-US"/>
              <a:t>Master title style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6513162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icture Gradient 36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a:t>Click to edit </a:t>
            </a:r>
            <a:br>
              <a:rPr lang="en-US"/>
            </a:br>
            <a:r>
              <a:rPr lang="en-US"/>
              <a:t>Master title style </a:t>
            </a:r>
            <a:br>
              <a:rPr lang="en-US"/>
            </a:br>
            <a:r>
              <a:rPr lang="en-US"/>
              <a:t>36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36 </a:t>
            </a:r>
            <a:r>
              <a:rPr lang="en-US" err="1"/>
              <a:t>pt</a:t>
            </a:r>
            <a:endParaRPr lang="en-US"/>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2020 | 2020-12-08 | Siemens Digital Industries Software | Where today meets tomorrow. </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646026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a:t>Click to edit Master title style 80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399"/>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2498941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a:t>Click to edit </a:t>
            </a:r>
            <a:br>
              <a:rPr lang="en-US"/>
            </a:br>
            <a:r>
              <a:rPr lang="en-US"/>
              <a:t>Master title style</a:t>
            </a:r>
            <a:br>
              <a:rPr lang="en-US"/>
            </a:br>
            <a:r>
              <a:rPr lang="en-US"/>
              <a:t>3 lines 60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117597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a:t>Click to edit </a:t>
            </a:r>
            <a:br>
              <a:rPr lang="en-US"/>
            </a:br>
            <a:r>
              <a:rPr lang="en-US"/>
              <a:t>Master title style</a:t>
            </a:r>
            <a:br>
              <a:rPr lang="en-US"/>
            </a:br>
            <a:r>
              <a:rPr lang="en-US"/>
              <a:t>extra long headlines</a:t>
            </a:r>
            <a:br>
              <a:rPr lang="en-US"/>
            </a:br>
            <a:r>
              <a:rPr lang="en-US"/>
              <a:t>4 lines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121"/>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8101127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8889510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388864210"/>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1CAAD1C1-677B-4ED7-96BE-27B1141D53D5}"/>
              </a:ext>
            </a:extLst>
          </p:cNvPr>
          <p:cNvSpPr>
            <a:spLocks noGrp="1"/>
          </p:cNvSpPr>
          <p:nvPr>
            <p:ph type="pic" sz="quarter" idx="12" hasCustomPrompt="1"/>
          </p:nvPr>
        </p:nvSpPr>
        <p:spPr>
          <a:xfrm>
            <a:off x="0" y="1"/>
            <a:ext cx="12192000" cy="6167438"/>
          </a:xfrm>
          <a:solidFill>
            <a:schemeClr val="accent1"/>
          </a:solidFill>
        </p:spPr>
        <p:txBody>
          <a:bodyPr lIns="144000" tIns="108000" rIns="144000" bIns="108000"/>
          <a:lstStyle>
            <a:lvl1pPr marL="0" indent="0">
              <a:buNone/>
              <a:defRPr>
                <a:solidFill>
                  <a:schemeClr val="bg1"/>
                </a:solidFill>
              </a:defRPr>
            </a:lvl1pPr>
          </a:lstStyle>
          <a:p>
            <a:r>
              <a:rPr lang="en-US" noProof="0"/>
              <a:t>Full size picture</a:t>
            </a:r>
          </a:p>
        </p:txBody>
      </p:sp>
      <p:sp>
        <p:nvSpPr>
          <p:cNvPr id="2" name="Title">
            <a:extLst>
              <a:ext uri="{FF2B5EF4-FFF2-40B4-BE49-F238E27FC236}">
                <a16:creationId xmlns:a16="http://schemas.microsoft.com/office/drawing/2014/main" id="{3F142F7C-7BE3-40CB-8C53-6F7533073558}"/>
              </a:ext>
            </a:extLst>
          </p:cNvPr>
          <p:cNvSpPr>
            <a:spLocks noGrp="1"/>
          </p:cNvSpPr>
          <p:nvPr>
            <p:ph type="title" hasCustomPrompt="1"/>
          </p:nvPr>
        </p:nvSpPr>
        <p:spPr>
          <a:xfrm>
            <a:off x="1022400" y="1054100"/>
            <a:ext cx="9252000" cy="1491868"/>
          </a:xfrm>
          <a:noFill/>
        </p:spPr>
        <p:txBody>
          <a:bodyPr wrap="square" rIns="0" bIns="0" anchor="t">
            <a:spAutoFit/>
          </a:bodyPr>
          <a:lstStyle>
            <a:lvl1pPr marL="0">
              <a:lnSpc>
                <a:spcPct val="100000"/>
              </a:lnSpc>
              <a:defRPr sz="4800">
                <a:solidFill>
                  <a:schemeClr val="tx1"/>
                </a:solidFill>
              </a:defRPr>
            </a:lvl1pPr>
          </a:lstStyle>
          <a:p>
            <a:r>
              <a:rPr lang="en-US"/>
              <a:t>Click to edit </a:t>
            </a:r>
            <a:br>
              <a:rPr lang="en-US"/>
            </a:br>
            <a:r>
              <a:rPr lang="en-US"/>
              <a:t>Master title style</a:t>
            </a:r>
          </a:p>
        </p:txBody>
      </p:sp>
      <p:sp>
        <p:nvSpPr>
          <p:cNvPr id="4" name="Footer Placeholder">
            <a:extLst>
              <a:ext uri="{FF2B5EF4-FFF2-40B4-BE49-F238E27FC236}">
                <a16:creationId xmlns:a16="http://schemas.microsoft.com/office/drawing/2014/main" id="{F80D0117-50BB-4A8D-AD28-794FFDA35404}"/>
              </a:ext>
            </a:extLst>
          </p:cNvPr>
          <p:cNvSpPr>
            <a:spLocks noGrp="1"/>
          </p:cNvSpPr>
          <p:nvPr>
            <p:ph type="ftr" sz="quarter" idx="16"/>
          </p:nvPr>
        </p:nvSpPr>
        <p:spPr/>
        <p:txBody>
          <a:bodyPr/>
          <a:lstStyle/>
          <a:p>
            <a:pPr>
              <a:lnSpc>
                <a:spcPct val="100000"/>
              </a:lnSpc>
            </a:pPr>
            <a:r>
              <a:rPr lang="en-US"/>
              <a:t>Restricted | © Siemens 2020 | 2020-12-08 | Siemens Digital Industries Software | Where today meets tomorrow. </a:t>
            </a:r>
          </a:p>
        </p:txBody>
      </p:sp>
      <p:sp>
        <p:nvSpPr>
          <p:cNvPr id="5" name="Slide Number Placeholder">
            <a:extLst>
              <a:ext uri="{FF2B5EF4-FFF2-40B4-BE49-F238E27FC236}">
                <a16:creationId xmlns:a16="http://schemas.microsoft.com/office/drawing/2014/main" id="{79F3E7D3-5B15-444A-88AC-9161D47F12FD}"/>
              </a:ext>
            </a:extLst>
          </p:cNvPr>
          <p:cNvSpPr>
            <a:spLocks noGrp="1"/>
          </p:cNvSpPr>
          <p:nvPr>
            <p:ph type="sldNum" sz="quarter" idx="17"/>
          </p:nvPr>
        </p:nvSpPr>
        <p:spPr/>
        <p:txBody>
          <a:bodyPr/>
          <a:lstStyle/>
          <a:p>
            <a:r>
              <a:rPr lang="en-US"/>
              <a:t>Page </a:t>
            </a:r>
            <a:fld id="{15EBE321-CBB1-4E91-BD14-37C8D44326FB}" type="slidenum">
              <a:rPr lang="en-US" smtClean="0"/>
              <a:pPr/>
              <a:t>‹#›</a:t>
            </a:fld>
            <a:endParaRPr lang="en-US"/>
          </a:p>
        </p:txBody>
      </p:sp>
      <p:pic>
        <p:nvPicPr>
          <p:cNvPr id="9" name="Siemens Logo">
            <a:extLst>
              <a:ext uri="{FF2B5EF4-FFF2-40B4-BE49-F238E27FC236}">
                <a16:creationId xmlns:a16="http://schemas.microsoft.com/office/drawing/2014/main" id="{30251D14-AF6A-4279-B0A9-69FD9519EA5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386878438"/>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Text spotlight)">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1CAAD1C1-677B-4ED7-96BE-27B1141D53D5}"/>
              </a:ext>
            </a:extLst>
          </p:cNvPr>
          <p:cNvSpPr>
            <a:spLocks noGrp="1"/>
          </p:cNvSpPr>
          <p:nvPr>
            <p:ph type="pic" sz="quarter" idx="12" hasCustomPrompt="1"/>
          </p:nvPr>
        </p:nvSpPr>
        <p:spPr>
          <a:xfrm>
            <a:off x="0" y="1"/>
            <a:ext cx="7611160" cy="6167438"/>
          </a:xfrm>
          <a:solidFill>
            <a:schemeClr val="accent1"/>
          </a:solidFill>
        </p:spPr>
        <p:txBody>
          <a:bodyPr lIns="144000" tIns="108000" rIns="144000" bIns="108000"/>
          <a:lstStyle>
            <a:lvl1pPr marL="0" indent="0">
              <a:buNone/>
              <a:defRPr>
                <a:solidFill>
                  <a:schemeClr val="bg1"/>
                </a:solidFill>
              </a:defRPr>
            </a:lvl1pPr>
          </a:lstStyle>
          <a:p>
            <a:r>
              <a:rPr lang="en-US" noProof="0"/>
              <a:t>Picture</a:t>
            </a:r>
          </a:p>
        </p:txBody>
      </p:sp>
      <p:sp>
        <p:nvSpPr>
          <p:cNvPr id="2" name="Title">
            <a:extLst>
              <a:ext uri="{FF2B5EF4-FFF2-40B4-BE49-F238E27FC236}">
                <a16:creationId xmlns:a16="http://schemas.microsoft.com/office/drawing/2014/main" id="{AFFC798E-B633-4D30-A7C1-DC796BD8887A}"/>
              </a:ext>
            </a:extLst>
          </p:cNvPr>
          <p:cNvSpPr>
            <a:spLocks noGrp="1"/>
          </p:cNvSpPr>
          <p:nvPr>
            <p:ph type="title" hasCustomPrompt="1"/>
          </p:nvPr>
        </p:nvSpPr>
        <p:spPr>
          <a:xfrm>
            <a:off x="1022400" y="1054100"/>
            <a:ext cx="6156275" cy="2215991"/>
          </a:xfrm>
          <a:noFill/>
        </p:spPr>
        <p:txBody>
          <a:bodyPr wrap="square" rIns="0" bIns="0" anchor="t">
            <a:spAutoFit/>
          </a:bodyPr>
          <a:lstStyle>
            <a:lvl1pPr marL="0">
              <a:lnSpc>
                <a:spcPct val="100000"/>
              </a:lnSpc>
              <a:defRPr sz="4800">
                <a:solidFill>
                  <a:schemeClr val="tx1"/>
                </a:solidFill>
              </a:defRPr>
            </a:lvl1pPr>
          </a:lstStyle>
          <a:p>
            <a:r>
              <a:rPr lang="en-US"/>
              <a:t>Click to edit </a:t>
            </a:r>
            <a:br>
              <a:rPr lang="en-US"/>
            </a:br>
            <a:r>
              <a:rPr lang="en-US"/>
              <a:t>Master title style</a:t>
            </a:r>
            <a:br>
              <a:rPr lang="en-US"/>
            </a:br>
            <a:r>
              <a:rPr lang="en-US"/>
              <a:t>3 lines</a:t>
            </a:r>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p:nvPr>
        </p:nvSpPr>
        <p:spPr>
          <a:xfrm>
            <a:off x="8042400" y="1054100"/>
            <a:ext cx="3744000" cy="5113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a:extLst>
              <a:ext uri="{FF2B5EF4-FFF2-40B4-BE49-F238E27FC236}">
                <a16:creationId xmlns:a16="http://schemas.microsoft.com/office/drawing/2014/main" id="{F80D0117-50BB-4A8D-AD28-794FFDA35404}"/>
              </a:ext>
            </a:extLst>
          </p:cNvPr>
          <p:cNvSpPr>
            <a:spLocks noGrp="1"/>
          </p:cNvSpPr>
          <p:nvPr>
            <p:ph type="ftr" sz="quarter" idx="16"/>
          </p:nvPr>
        </p:nvSpPr>
        <p:spPr/>
        <p:txBody>
          <a:bodyPr/>
          <a:lstStyle/>
          <a:p>
            <a:pPr>
              <a:lnSpc>
                <a:spcPct val="100000"/>
              </a:lnSpc>
            </a:pPr>
            <a:r>
              <a:rPr lang="en-US"/>
              <a:t>Restricted | © Siemens 2020 | 2020-12-08 | Siemens Digital Industries Software | Where today meets tomorrow. </a:t>
            </a:r>
          </a:p>
        </p:txBody>
      </p:sp>
      <p:sp>
        <p:nvSpPr>
          <p:cNvPr id="5" name="Slide Number Placeholder">
            <a:extLst>
              <a:ext uri="{FF2B5EF4-FFF2-40B4-BE49-F238E27FC236}">
                <a16:creationId xmlns:a16="http://schemas.microsoft.com/office/drawing/2014/main" id="{79F3E7D3-5B15-444A-88AC-9161D47F12FD}"/>
              </a:ext>
            </a:extLst>
          </p:cNvPr>
          <p:cNvSpPr>
            <a:spLocks noGrp="1"/>
          </p:cNvSpPr>
          <p:nvPr>
            <p:ph type="sldNum" sz="quarter" idx="17"/>
          </p:nvPr>
        </p:nvSpPr>
        <p:spPr/>
        <p:txBody>
          <a:bodyPr/>
          <a:lstStyle/>
          <a:p>
            <a:r>
              <a:rPr lang="en-US"/>
              <a:t>Page </a:t>
            </a:r>
            <a:fld id="{15EBE321-CBB1-4E91-BD14-37C8D44326FB}" type="slidenum">
              <a:rPr lang="en-US" smtClean="0"/>
              <a:pPr/>
              <a:t>‹#›</a:t>
            </a:fld>
            <a:endParaRPr lang="en-US"/>
          </a:p>
        </p:txBody>
      </p:sp>
      <p:pic>
        <p:nvPicPr>
          <p:cNvPr id="9" name="Siemens Logo">
            <a:extLst>
              <a:ext uri="{FF2B5EF4-FFF2-40B4-BE49-F238E27FC236}">
                <a16:creationId xmlns:a16="http://schemas.microsoft.com/office/drawing/2014/main" id="{30251D14-AF6A-4279-B0A9-69FD9519EA5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569821009"/>
      </p:ext>
    </p:extLst>
  </p:cSld>
  <p:clrMapOvr>
    <a:masterClrMapping/>
  </p:clrMapOvr>
  <p:extLst>
    <p:ext uri="{DCECCB84-F9BA-43D5-87BE-67443E8EF086}">
      <p15:sldGuideLst xmlns:p15="http://schemas.microsoft.com/office/powerpoint/2012/main">
        <p15:guide id="1" pos="259">
          <p15:clr>
            <a:srgbClr val="65CEFF"/>
          </p15:clr>
        </p15:guide>
        <p15:guide id="2" pos="4522">
          <p15:clr>
            <a:srgbClr val="65CEFF"/>
          </p15:clr>
        </p15:guide>
        <p15:guide id="3" pos="4794">
          <p15:clr>
            <a:srgbClr val="65CEFF"/>
          </p15:clr>
        </p15:guide>
        <p15:guide id="4" pos="5066">
          <p15:clr>
            <a:srgbClr val="65CEFF"/>
          </p15:clr>
        </p15:guide>
        <p15:guide id="5" pos="6472">
          <p15:clr>
            <a:srgbClr val="65CEFF"/>
          </p15:clr>
        </p15:guide>
        <p15:guide id="6" pos="7425">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1" orient="horz" pos="3885">
          <p15:clr>
            <a:srgbClr val="65CEFF"/>
          </p15:clr>
        </p15:guide>
        <p15:guide id="12"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ull bleed color Deep Blue (with key visual)">
    <p:bg>
      <p:bgRef idx="1001">
        <a:schemeClr val="bg2"/>
      </p:bgRef>
    </p:bg>
    <p:spTree>
      <p:nvGrpSpPr>
        <p:cNvPr id="1" name=""/>
        <p:cNvGrpSpPr/>
        <p:nvPr/>
      </p:nvGrpSpPr>
      <p:grpSpPr>
        <a:xfrm>
          <a:off x="0" y="0"/>
          <a:ext cx="0" cy="0"/>
          <a:chOff x="0" y="0"/>
          <a:chExt cx="0" cy="0"/>
        </a:xfrm>
      </p:grpSpPr>
      <p:pic>
        <p:nvPicPr>
          <p:cNvPr id="4" name="Cognisphere" descr="A picture containing fish, monitor, keyboard, computer&#10;&#10;Description automatically generated">
            <a:extLst>
              <a:ext uri="{FF2B5EF4-FFF2-40B4-BE49-F238E27FC236}">
                <a16:creationId xmlns:a16="http://schemas.microsoft.com/office/drawing/2014/main" id="{AE83F1C5-95B7-47C3-B837-8191D1E3972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9000681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7116042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ull bleed color Gradient (with key visual)">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4" name="Cognisphere" descr="A picture containing sky, water, star&#10;&#10;Description automatically generated">
            <a:extLst>
              <a:ext uri="{FF2B5EF4-FFF2-40B4-BE49-F238E27FC236}">
                <a16:creationId xmlns:a16="http://schemas.microsoft.com/office/drawing/2014/main" id="{E2F7C1AE-8376-445B-98CD-DBE6E96E38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7880634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3048218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320855632"/>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7367E6C0-4D2C-4C5F-86D8-A2CFF0EB3D6A}"/>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6" name="Slide Number Placeholder">
            <a:extLst>
              <a:ext uri="{FF2B5EF4-FFF2-40B4-BE49-F238E27FC236}">
                <a16:creationId xmlns:a16="http://schemas.microsoft.com/office/drawing/2014/main" id="{6F746812-65E3-4C09-AC38-B0CFE93C8A9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495901388"/>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33A503D1-D234-4258-9A03-D858B10BA46D}"/>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7" name="Slide Number Placeholder">
            <a:extLst>
              <a:ext uri="{FF2B5EF4-FFF2-40B4-BE49-F238E27FC236}">
                <a16:creationId xmlns:a16="http://schemas.microsoft.com/office/drawing/2014/main" id="{21AA656B-0BAF-4B75-90BE-93CAC5946C0B}"/>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603370046"/>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py 3">
            <a:extLst>
              <a:ext uri="{FF2B5EF4-FFF2-40B4-BE49-F238E27FC236}">
                <a16:creationId xmlns:a16="http://schemas.microsoft.com/office/drawing/2014/main" id="{F020B491-E63A-4FB5-94ED-2BC31EB35C33}"/>
              </a:ext>
            </a:extLst>
          </p:cNvPr>
          <p:cNvSpPr>
            <a:spLocks noGrp="1"/>
          </p:cNvSpPr>
          <p:nvPr>
            <p:ph sz="half" idx="12"/>
          </p:nvPr>
        </p:nvSpPr>
        <p:spPr>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E613FA68-C74A-4621-9563-250388EBCC8B}"/>
              </a:ext>
            </a:extLst>
          </p:cNvPr>
          <p:cNvSpPr>
            <a:spLocks noGrp="1"/>
          </p:cNvSpPr>
          <p:nvPr>
            <p:ph type="ftr" sz="quarter" idx="13"/>
          </p:nvPr>
        </p:nvSpPr>
        <p:spPr/>
        <p:txBody>
          <a:bodyPr/>
          <a:lstStyle/>
          <a:p>
            <a:pPr>
              <a:lnSpc>
                <a:spcPct val="100000"/>
              </a:lnSpc>
            </a:pPr>
            <a:r>
              <a:rPr lang="en-US"/>
              <a:t>Restricted | © Siemens 2020 | 2020-12-08 | Siemens Digital Industries Software | Where today meets tomorrow. </a:t>
            </a:r>
          </a:p>
        </p:txBody>
      </p:sp>
      <p:sp>
        <p:nvSpPr>
          <p:cNvPr id="7" name="Slide Number Placeholder">
            <a:extLst>
              <a:ext uri="{FF2B5EF4-FFF2-40B4-BE49-F238E27FC236}">
                <a16:creationId xmlns:a16="http://schemas.microsoft.com/office/drawing/2014/main" id="{F9117D9C-D502-472C-A3C8-FA9087A2EDCE}"/>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441670860"/>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py 2">
            <a:extLst>
              <a:ext uri="{FF2B5EF4-FFF2-40B4-BE49-F238E27FC236}">
                <a16:creationId xmlns:a16="http://schemas.microsoft.com/office/drawing/2014/main" id="{2871E7F7-6A93-4406-8617-80D9CFF396A8}"/>
              </a:ext>
            </a:extLst>
          </p:cNvPr>
          <p:cNvSpPr>
            <a:spLocks noGrp="1"/>
          </p:cNvSpPr>
          <p:nvPr>
            <p:ph sz="half" idx="12"/>
          </p:nvPr>
        </p:nvSpPr>
        <p:spPr>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3">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py 4">
            <a:extLst>
              <a:ext uri="{FF2B5EF4-FFF2-40B4-BE49-F238E27FC236}">
                <a16:creationId xmlns:a16="http://schemas.microsoft.com/office/drawing/2014/main" id="{7AD3B9B1-3210-46C8-8222-A0E11719EB88}"/>
              </a:ext>
            </a:extLst>
          </p:cNvPr>
          <p:cNvSpPr>
            <a:spLocks noGrp="1"/>
          </p:cNvSpPr>
          <p:nvPr>
            <p:ph sz="half" idx="13"/>
          </p:nvPr>
        </p:nvSpPr>
        <p:spPr>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1DF6F0C8-00D9-4034-B3CC-D376702BE1C8}"/>
              </a:ext>
            </a:extLst>
          </p:cNvPr>
          <p:cNvSpPr>
            <a:spLocks noGrp="1"/>
          </p:cNvSpPr>
          <p:nvPr>
            <p:ph type="ftr" sz="quarter" idx="14"/>
          </p:nvPr>
        </p:nvSpPr>
        <p:spPr/>
        <p:txBody>
          <a:bodyPr/>
          <a:lstStyle/>
          <a:p>
            <a:pPr>
              <a:lnSpc>
                <a:spcPct val="100000"/>
              </a:lnSpc>
            </a:pPr>
            <a:r>
              <a:rPr lang="en-US"/>
              <a:t>Restricted | © Siemens 2020 | 2020-12-08 | Siemens Digital Industries Software | Where today meets tomorrow. </a:t>
            </a:r>
          </a:p>
        </p:txBody>
      </p:sp>
      <p:sp>
        <p:nvSpPr>
          <p:cNvPr id="7" name="Slide Number Placeholder">
            <a:extLst>
              <a:ext uri="{FF2B5EF4-FFF2-40B4-BE49-F238E27FC236}">
                <a16:creationId xmlns:a16="http://schemas.microsoft.com/office/drawing/2014/main" id="{53D55964-F7E8-48E3-84D5-FE4FE835C563}"/>
              </a:ext>
            </a:extLst>
          </p:cNvPr>
          <p:cNvSpPr>
            <a:spLocks noGrp="1"/>
          </p:cNvSpPr>
          <p:nvPr>
            <p:ph type="sldNum" sz="quarter" idx="15"/>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510840944"/>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68133C-15D2-4F33-802E-DF15E7891829}"/>
              </a:ext>
            </a:extLst>
          </p:cNvPr>
          <p:cNvSpPr>
            <a:spLocks noGrp="1"/>
          </p:cNvSpPr>
          <p:nvPr>
            <p:ph type="title"/>
          </p:nvPr>
        </p:nvSpPr>
        <p:spPr/>
        <p:txBody>
          <a:bodyPr/>
          <a:lstStyle/>
          <a:p>
            <a:r>
              <a:rPr lang="en-US"/>
              <a:t>Click to edit Master title style</a:t>
            </a:r>
          </a:p>
        </p:txBody>
      </p:sp>
      <p:sp>
        <p:nvSpPr>
          <p:cNvPr id="7" name="Picture Placeholder">
            <a:extLst>
              <a:ext uri="{FF2B5EF4-FFF2-40B4-BE49-F238E27FC236}">
                <a16:creationId xmlns:a16="http://schemas.microsoft.com/office/drawing/2014/main" id="{90866A30-329B-420B-B42B-2C69E0DE6D9B}"/>
              </a:ext>
            </a:extLst>
          </p:cNvPr>
          <p:cNvSpPr>
            <a:spLocks noGrp="1"/>
          </p:cNvSpPr>
          <p:nvPr>
            <p:ph type="pic" sz="quarter" idx="12"/>
          </p:nvPr>
        </p:nvSpPr>
        <p:spPr>
          <a:xfrm>
            <a:off x="411161" y="1414800"/>
            <a:ext cx="7199313" cy="4752000"/>
          </a:xfrm>
          <a:solidFill>
            <a:schemeClr val="bg2"/>
          </a:solidFill>
        </p:spPr>
        <p:txBody>
          <a:bodyPr>
            <a:noAutofit/>
          </a:bodyPr>
          <a:lstStyle/>
          <a:p>
            <a:r>
              <a:rPr lang="en-US"/>
              <a:t>Click icon to add picture</a:t>
            </a:r>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33756E69-CA2F-47EC-9D32-CB09C4CD83F1}"/>
              </a:ext>
            </a:extLst>
          </p:cNvPr>
          <p:cNvSpPr>
            <a:spLocks noGrp="1"/>
          </p:cNvSpPr>
          <p:nvPr>
            <p:ph type="ftr" sz="quarter" idx="13"/>
          </p:nvPr>
        </p:nvSpPr>
        <p:spPr/>
        <p:txBody>
          <a:bodyPr/>
          <a:lstStyle/>
          <a:p>
            <a:pPr>
              <a:lnSpc>
                <a:spcPct val="100000"/>
              </a:lnSpc>
            </a:pPr>
            <a:r>
              <a:rPr lang="en-US"/>
              <a:t>Restricted | © Siemens 2020 | 2020-12-08 | Siemens Digital Industries Software | Where today meets tomorrow. </a:t>
            </a:r>
          </a:p>
        </p:txBody>
      </p:sp>
      <p:sp>
        <p:nvSpPr>
          <p:cNvPr id="5" name="Slide Number Placeholder">
            <a:extLst>
              <a:ext uri="{FF2B5EF4-FFF2-40B4-BE49-F238E27FC236}">
                <a16:creationId xmlns:a16="http://schemas.microsoft.com/office/drawing/2014/main" id="{95022CCB-0484-488B-8637-222C3919B0F7}"/>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a:p>
        </p:txBody>
      </p:sp>
      <p:pic>
        <p:nvPicPr>
          <p:cNvPr id="9" name="Siemens Logo">
            <a:extLst>
              <a:ext uri="{FF2B5EF4-FFF2-40B4-BE49-F238E27FC236}">
                <a16:creationId xmlns:a16="http://schemas.microsoft.com/office/drawing/2014/main" id="{F468BE17-5D03-45C2-9D37-CF354AAA958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258777185"/>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s without logo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0C7B869-3095-4D4F-B832-8B6077991AA5}"/>
              </a:ext>
            </a:extLst>
          </p:cNvPr>
          <p:cNvSpPr>
            <a:spLocks noGrp="1"/>
          </p:cNvSpPr>
          <p:nvPr>
            <p:ph type="title"/>
          </p:nvPr>
        </p:nvSpPr>
        <p:spPr/>
        <p:txBody>
          <a:bodyPr/>
          <a:lstStyle/>
          <a:p>
            <a:r>
              <a:rPr lang="en-US"/>
              <a:t>Click to edit Master title style</a:t>
            </a:r>
          </a:p>
        </p:txBody>
      </p:sp>
      <p:sp>
        <p:nvSpPr>
          <p:cNvPr id="9" name="Picture Placeholder">
            <a:extLst>
              <a:ext uri="{FF2B5EF4-FFF2-40B4-BE49-F238E27FC236}">
                <a16:creationId xmlns:a16="http://schemas.microsoft.com/office/drawing/2014/main" id="{299C05E6-AE55-4C36-8543-1DA3751542EB}"/>
              </a:ext>
            </a:extLst>
          </p:cNvPr>
          <p:cNvSpPr>
            <a:spLocks noGrp="1"/>
          </p:cNvSpPr>
          <p:nvPr>
            <p:ph type="pic" sz="quarter" idx="12"/>
          </p:nvPr>
        </p:nvSpPr>
        <p:spPr>
          <a:xfrm>
            <a:off x="411163" y="1414800"/>
            <a:ext cx="7199311" cy="4752000"/>
          </a:xfrm>
          <a:solidFill>
            <a:schemeClr val="bg2"/>
          </a:solidFill>
        </p:spPr>
        <p:txBody>
          <a:bodyPr/>
          <a:lstStyle/>
          <a:p>
            <a:r>
              <a:rPr lang="en-US"/>
              <a:t>Click icon to add picture</a:t>
            </a:r>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2BA12055-C879-45E9-A105-2B26D233C9D4}"/>
              </a:ext>
            </a:extLst>
          </p:cNvPr>
          <p:cNvSpPr>
            <a:spLocks noGrp="1"/>
          </p:cNvSpPr>
          <p:nvPr>
            <p:ph type="ftr" sz="quarter" idx="13"/>
          </p:nvPr>
        </p:nvSpPr>
        <p:spPr/>
        <p:txBody>
          <a:bodyPr/>
          <a:lstStyle/>
          <a:p>
            <a:pPr>
              <a:lnSpc>
                <a:spcPct val="100000"/>
              </a:lnSpc>
            </a:pPr>
            <a:r>
              <a:rPr lang="en-US"/>
              <a:t>Restricted | © Siemens 2020 | 2020-12-08 | Siemens Digital Industries Software | Where today meets tomorrow. </a:t>
            </a:r>
          </a:p>
        </p:txBody>
      </p:sp>
      <p:sp>
        <p:nvSpPr>
          <p:cNvPr id="7" name="Slide Number Placeholder">
            <a:extLst>
              <a:ext uri="{FF2B5EF4-FFF2-40B4-BE49-F238E27FC236}">
                <a16:creationId xmlns:a16="http://schemas.microsoft.com/office/drawing/2014/main" id="{9AD82E40-8759-4AAC-B9F2-63E0F2C4CC7C}"/>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566741324"/>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6" name="Table Placeholder">
            <a:extLst>
              <a:ext uri="{FF2B5EF4-FFF2-40B4-BE49-F238E27FC236}">
                <a16:creationId xmlns:a16="http://schemas.microsoft.com/office/drawing/2014/main" id="{D41D1FE0-EDDA-47B8-BF1F-831D4733C32A}"/>
              </a:ext>
            </a:extLst>
          </p:cNvPr>
          <p:cNvSpPr>
            <a:spLocks noGrp="1"/>
          </p:cNvSpPr>
          <p:nvPr>
            <p:ph type="tbl" sz="quarter" idx="12"/>
          </p:nvPr>
        </p:nvSpPr>
        <p:spPr>
          <a:xfrm>
            <a:off x="404812" y="1414461"/>
            <a:ext cx="11376026" cy="4392000"/>
          </a:xfrm>
        </p:spPr>
        <p:txBody>
          <a:bodyPr/>
          <a:lstStyle/>
          <a:p>
            <a:r>
              <a:rPr lang="en-US"/>
              <a:t>Click icon to add table</a:t>
            </a:r>
          </a:p>
        </p:txBody>
      </p:sp>
      <p:sp>
        <p:nvSpPr>
          <p:cNvPr id="3" name="Footer Placeholder">
            <a:extLst>
              <a:ext uri="{FF2B5EF4-FFF2-40B4-BE49-F238E27FC236}">
                <a16:creationId xmlns:a16="http://schemas.microsoft.com/office/drawing/2014/main" id="{9CEA2FAD-1597-4F5C-878D-02CB854024F3}"/>
              </a:ext>
            </a:extLst>
          </p:cNvPr>
          <p:cNvSpPr>
            <a:spLocks noGrp="1"/>
          </p:cNvSpPr>
          <p:nvPr>
            <p:ph type="ftr" sz="quarter" idx="13"/>
          </p:nvPr>
        </p:nvSpPr>
        <p:spPr/>
        <p:txBody>
          <a:bodyPr/>
          <a:lstStyle/>
          <a:p>
            <a:pPr>
              <a:lnSpc>
                <a:spcPct val="100000"/>
              </a:lnSpc>
            </a:pPr>
            <a:r>
              <a:rPr lang="en-US"/>
              <a:t>Restricted | © Siemens 2020 | 2020-12-08 | Siemens Digital Industries Software | Where today meets tomorrow. </a:t>
            </a:r>
          </a:p>
        </p:txBody>
      </p:sp>
      <p:sp>
        <p:nvSpPr>
          <p:cNvPr id="5" name="Slide Number Placeholder">
            <a:extLst>
              <a:ext uri="{FF2B5EF4-FFF2-40B4-BE49-F238E27FC236}">
                <a16:creationId xmlns:a16="http://schemas.microsoft.com/office/drawing/2014/main" id="{CE0A22CB-5E69-4817-B713-C02B97CF6B91}"/>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717507300"/>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F2A455C-53B1-4792-8EA9-F00926C48E39}"/>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py 1">
            <a:extLst>
              <a:ext uri="{FF2B5EF4-FFF2-40B4-BE49-F238E27FC236}">
                <a16:creationId xmlns:a16="http://schemas.microsoft.com/office/drawing/2014/main" id="{9CE7E2D8-94E8-4FE6-93A5-924CA3EC5315}"/>
              </a:ext>
            </a:extLst>
          </p:cNvPr>
          <p:cNvSpPr>
            <a:spLocks noGrp="1"/>
          </p:cNvSpPr>
          <p:nvPr>
            <p:ph idx="1"/>
          </p:nvPr>
        </p:nvSpPr>
        <p:spPr>
          <a:xfrm>
            <a:off x="411162" y="1414462"/>
            <a:ext cx="3600000" cy="4392000"/>
          </a:xfrm>
          <a:prstGeom prst="rect">
            <a:avLst/>
          </a:prstGeom>
          <a:ln w="19050">
            <a:solidFill>
              <a:schemeClr val="accent2"/>
            </a:solidFill>
          </a:ln>
        </p:spPr>
        <p:txBody>
          <a:bodyPr lIns="216000" tIns="144000" rIns="216000" bIns="144000">
            <a:noAutofit/>
          </a:bodyPr>
          <a:lstStyle>
            <a:lvl1pPr>
              <a:defRPr>
                <a:ln>
                  <a:noFill/>
                </a:ln>
              </a:defRPr>
            </a:lvl1pPr>
            <a:lvl2pPr>
              <a:buClr>
                <a:srgbClr val="00FFB9"/>
              </a:buClr>
              <a:defRPr>
                <a:ln>
                  <a:noFill/>
                </a:ln>
              </a:defRPr>
            </a:lvl2pPr>
            <a:lvl3pPr>
              <a:buClr>
                <a:srgbClr val="00FFB9"/>
              </a:buClr>
              <a:defRPr>
                <a:ln>
                  <a:noFill/>
                </a:ln>
              </a:defRPr>
            </a:lvl3pPr>
            <a:lvl4pPr>
              <a:buClr>
                <a:srgbClr val="00FFB9"/>
              </a:buClr>
              <a:defRPr>
                <a:ln>
                  <a:noFill/>
                </a:ln>
              </a:defRPr>
            </a:lvl4pPr>
            <a:lvl5pPr>
              <a:buClr>
                <a:srgbClr val="00FFB9"/>
              </a:buClr>
              <a:defRPr>
                <a:ln>
                  <a:noFill/>
                </a:ln>
              </a:defRPr>
            </a:lvl5pPr>
            <a:lvl6pPr>
              <a:buClr>
                <a:srgbClr val="00FFB9"/>
              </a:buClr>
              <a:defRPr>
                <a:ln>
                  <a:noFill/>
                </a:ln>
              </a:defRPr>
            </a:lvl6pPr>
            <a:lvl7pPr>
              <a:buClr>
                <a:srgbClr val="00FFB9"/>
              </a:buClr>
              <a:defRPr>
                <a:ln>
                  <a:noFill/>
                </a:ln>
              </a:defRPr>
            </a:lvl7pPr>
            <a:lvl8pPr>
              <a:buClr>
                <a:srgbClr val="00FFB9"/>
              </a:buClr>
              <a:defRPr>
                <a:ln>
                  <a:noFill/>
                </a:ln>
              </a:defRPr>
            </a:lvl8pPr>
            <a:lvl9pPr>
              <a:buClr>
                <a:srgbClr val="00FFB9"/>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py 2">
            <a:extLst>
              <a:ext uri="{FF2B5EF4-FFF2-40B4-BE49-F238E27FC236}">
                <a16:creationId xmlns:a16="http://schemas.microsoft.com/office/drawing/2014/main" id="{3AC3CE10-0C4B-4A11-BA76-8CAFED13661C}"/>
              </a:ext>
            </a:extLst>
          </p:cNvPr>
          <p:cNvSpPr>
            <a:spLocks noGrp="1"/>
          </p:cNvSpPr>
          <p:nvPr>
            <p:ph idx="13"/>
          </p:nvPr>
        </p:nvSpPr>
        <p:spPr>
          <a:xfrm>
            <a:off x="4299176" y="1414462"/>
            <a:ext cx="3600000" cy="4392000"/>
          </a:xfrm>
          <a:prstGeom prst="rect">
            <a:avLst/>
          </a:prstGeom>
          <a:ln w="19050">
            <a:solidFill>
              <a:schemeClr val="accent2"/>
            </a:solidFill>
          </a:ln>
        </p:spPr>
        <p:txBody>
          <a:bodyPr lIns="216000" tIns="144000" rIns="216000" bIns="144000">
            <a:noAutofit/>
          </a:bodyPr>
          <a:lstStyle>
            <a:lvl1pPr>
              <a:defRPr>
                <a:ln>
                  <a:noFill/>
                </a:ln>
              </a:defRPr>
            </a:lvl1pPr>
            <a:lvl2pPr>
              <a:buClr>
                <a:srgbClr val="00FFB9"/>
              </a:buClr>
              <a:defRPr>
                <a:ln>
                  <a:noFill/>
                </a:ln>
              </a:defRPr>
            </a:lvl2pPr>
            <a:lvl3pPr>
              <a:buClr>
                <a:srgbClr val="00FFB9"/>
              </a:buClr>
              <a:defRPr>
                <a:ln>
                  <a:noFill/>
                </a:ln>
              </a:defRPr>
            </a:lvl3pPr>
            <a:lvl4pPr>
              <a:buClr>
                <a:srgbClr val="00FFB9"/>
              </a:buClr>
              <a:defRPr>
                <a:ln>
                  <a:noFill/>
                </a:ln>
              </a:defRPr>
            </a:lvl4pPr>
            <a:lvl5pPr>
              <a:buClr>
                <a:srgbClr val="00FFB9"/>
              </a:buClr>
              <a:defRPr>
                <a:ln>
                  <a:noFill/>
                </a:ln>
              </a:defRPr>
            </a:lvl5pPr>
            <a:lvl6pPr>
              <a:buClr>
                <a:srgbClr val="00FFB9"/>
              </a:buClr>
              <a:defRPr>
                <a:ln>
                  <a:noFill/>
                </a:ln>
              </a:defRPr>
            </a:lvl6pPr>
            <a:lvl7pPr>
              <a:buClr>
                <a:srgbClr val="00FFB9"/>
              </a:buClr>
              <a:defRPr>
                <a:ln>
                  <a:noFill/>
                </a:ln>
              </a:defRPr>
            </a:lvl7pPr>
            <a:lvl8pPr>
              <a:buClr>
                <a:srgbClr val="00FFB9"/>
              </a:buClr>
              <a:defRPr>
                <a:ln>
                  <a:noFill/>
                </a:ln>
              </a:defRPr>
            </a:lvl8pPr>
            <a:lvl9pPr>
              <a:buClr>
                <a:srgbClr val="00FFB9"/>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py 3">
            <a:extLst>
              <a:ext uri="{FF2B5EF4-FFF2-40B4-BE49-F238E27FC236}">
                <a16:creationId xmlns:a16="http://schemas.microsoft.com/office/drawing/2014/main" id="{E840DCCC-8E77-40B8-B94B-A4D3A4D77826}"/>
              </a:ext>
            </a:extLst>
          </p:cNvPr>
          <p:cNvSpPr>
            <a:spLocks noGrp="1"/>
          </p:cNvSpPr>
          <p:nvPr>
            <p:ph idx="12"/>
          </p:nvPr>
        </p:nvSpPr>
        <p:spPr>
          <a:xfrm>
            <a:off x="8187189" y="1414462"/>
            <a:ext cx="3600000" cy="4392000"/>
          </a:xfrm>
          <a:prstGeom prst="rect">
            <a:avLst/>
          </a:prstGeom>
          <a:solidFill>
            <a:schemeClr val="tx2"/>
          </a:solidFill>
          <a:ln w="19050">
            <a:solidFill>
              <a:schemeClr val="tx1"/>
            </a:solidFill>
          </a:ln>
        </p:spPr>
        <p:txBody>
          <a:bodyPr lIns="216000" tIns="144000" rIns="216000" bIns="144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vl6pPr>
              <a:buClr>
                <a:schemeClr val="accent1"/>
              </a:buClr>
              <a:defRPr>
                <a:solidFill>
                  <a:schemeClr val="bg1"/>
                </a:solidFill>
              </a:defRPr>
            </a:lvl6pPr>
            <a:lvl7pPr>
              <a:buClr>
                <a:schemeClr val="accent1"/>
              </a:buClr>
              <a:defRPr>
                <a:solidFill>
                  <a:schemeClr val="bg1"/>
                </a:solidFill>
              </a:defRPr>
            </a:lvl7pPr>
            <a:lvl8pPr>
              <a:buClr>
                <a:schemeClr val="accent1"/>
              </a:buClr>
              <a:defRPr>
                <a:solidFill>
                  <a:schemeClr val="bg1"/>
                </a:solidFill>
              </a:defRPr>
            </a:lvl8pPr>
            <a:lvl9pPr>
              <a:buClr>
                <a:schemeClr val="accent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91FCCEDD-7521-4BD5-8A32-A62DA6246709}"/>
              </a:ext>
            </a:extLst>
          </p:cNvPr>
          <p:cNvSpPr>
            <a:spLocks noGrp="1"/>
          </p:cNvSpPr>
          <p:nvPr>
            <p:ph type="ftr" sz="quarter" idx="14"/>
          </p:nvPr>
        </p:nvSpPr>
        <p:spPr/>
        <p:txBody>
          <a:bodyPr/>
          <a:lstStyle/>
          <a:p>
            <a:pPr>
              <a:lnSpc>
                <a:spcPct val="100000"/>
              </a:lnSpc>
            </a:pPr>
            <a:r>
              <a:rPr lang="en-US"/>
              <a:t>Restricted | © Siemens 2020 | 2020-12-08 | Siemens Digital Industries Software | Where today meets tomorrow. </a:t>
            </a:r>
          </a:p>
        </p:txBody>
      </p:sp>
      <p:sp>
        <p:nvSpPr>
          <p:cNvPr id="7" name="Slide Number Placeholder">
            <a:extLst>
              <a:ext uri="{FF2B5EF4-FFF2-40B4-BE49-F238E27FC236}">
                <a16:creationId xmlns:a16="http://schemas.microsoft.com/office/drawing/2014/main" id="{DC2AAE3E-7F56-4838-BCE7-6B966549F4DA}"/>
              </a:ext>
            </a:extLst>
          </p:cNvPr>
          <p:cNvSpPr>
            <a:spLocks noGrp="1"/>
          </p:cNvSpPr>
          <p:nvPr>
            <p:ph type="sldNum" sz="quarter" idx="15"/>
          </p:nvPr>
        </p:nvSpPr>
        <p:spPr/>
        <p:txBody>
          <a:bodyPr/>
          <a:lstStyle/>
          <a:p>
            <a:r>
              <a:rPr lang="en-US"/>
              <a:t>Page </a:t>
            </a:r>
            <a:fld id="{15EBE321-CBB1-4E91-BD14-37C8D44326FB}" type="slidenum">
              <a:rPr lang="en-US" smtClean="0"/>
              <a:pPr/>
              <a:t>‹#›</a:t>
            </a:fld>
            <a:endParaRPr lang="en-US"/>
          </a:p>
        </p:txBody>
      </p:sp>
      <p:pic>
        <p:nvPicPr>
          <p:cNvPr id="9" name="Siemens Logo">
            <a:extLst>
              <a:ext uri="{FF2B5EF4-FFF2-40B4-BE49-F238E27FC236}">
                <a16:creationId xmlns:a16="http://schemas.microsoft.com/office/drawing/2014/main" id="{E5DDD55C-5C17-4BCD-A9BB-FE8A69DC48D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4264383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Lst>
          </p:cNvPr>
          <p:cNvSpPr/>
          <p:nvPr userDrawn="1"/>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a:p>
        </p:txBody>
      </p:sp>
      <p:sp>
        <p:nvSpPr>
          <p:cNvPr id="2" name="Footer Placeholder">
            <a:extLst>
              <a:ext uri="{FF2B5EF4-FFF2-40B4-BE49-F238E27FC236}">
                <a16:creationId xmlns:a16="http://schemas.microsoft.com/office/drawing/2014/main" id="{EC4F35EF-AC94-4800-9CB7-CA49CAFDD249}"/>
              </a:ext>
            </a:extLst>
          </p:cNvPr>
          <p:cNvSpPr>
            <a:spLocks noGrp="1"/>
          </p:cNvSpPr>
          <p:nvPr>
            <p:ph type="ftr" sz="quarter" idx="13"/>
          </p:nvPr>
        </p:nvSpPr>
        <p:spPr/>
        <p:txBody>
          <a:bodyPr/>
          <a:lstStyle/>
          <a:p>
            <a:pPr>
              <a:lnSpc>
                <a:spcPct val="100000"/>
              </a:lnSpc>
            </a:pPr>
            <a:r>
              <a:rPr lang="en-US"/>
              <a:t>Restricted | © Siemens 2020 | 2020-12-08 | Siemens Digital Industries Software | Where today meets tomorrow. </a:t>
            </a:r>
          </a:p>
        </p:txBody>
      </p:sp>
      <p:sp>
        <p:nvSpPr>
          <p:cNvPr id="3" name="Slide Number Placeholder">
            <a:extLst>
              <a:ext uri="{FF2B5EF4-FFF2-40B4-BE49-F238E27FC236}">
                <a16:creationId xmlns:a16="http://schemas.microsoft.com/office/drawing/2014/main" id="{CCC7FBE7-01B9-4EC8-8BE1-F416F7C5B7AA}"/>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a:p>
        </p:txBody>
      </p:sp>
      <p:pic>
        <p:nvPicPr>
          <p:cNvPr id="8" name="Siemens Logo">
            <a:extLst>
              <a:ext uri="{FF2B5EF4-FFF2-40B4-BE49-F238E27FC236}">
                <a16:creationId xmlns:a16="http://schemas.microsoft.com/office/drawing/2014/main" id="{AF2E271F-5AF7-408E-9752-03D1D6448EA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770108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a:xfrm>
            <a:off x="986400" y="1270799"/>
            <a:ext cx="10800000" cy="4536000"/>
          </a:xfrm>
        </p:spPr>
        <p:txBody>
          <a:bodyPr lIns="0" tIns="0" rIns="0" bIns="0" anchor="t">
            <a:noAutofit/>
          </a:bodyPr>
          <a:lstStyle>
            <a:lvl1pPr>
              <a:lnSpc>
                <a:spcPct val="90000"/>
              </a:lnSpc>
              <a:defRPr sz="8000">
                <a:gradFill>
                  <a:gsLst>
                    <a:gs pos="0">
                      <a:schemeClr val="accent2"/>
                    </a:gs>
                    <a:gs pos="100000">
                      <a:schemeClr val="accent3"/>
                    </a:gs>
                  </a:gsLst>
                  <a:lin ang="0" scaled="1"/>
                </a:gradFill>
              </a:defRPr>
            </a:lvl1pPr>
          </a:lstStyle>
          <a:p>
            <a:r>
              <a:rPr lang="en-US"/>
              <a:t>Click to edit Master title style</a:t>
            </a:r>
          </a:p>
        </p:txBody>
      </p:sp>
      <p:sp>
        <p:nvSpPr>
          <p:cNvPr id="2" name="Footer Placeholder">
            <a:extLst>
              <a:ext uri="{FF2B5EF4-FFF2-40B4-BE49-F238E27FC236}">
                <a16:creationId xmlns:a16="http://schemas.microsoft.com/office/drawing/2014/main" id="{09BD8BE5-BFF2-469D-8B93-9556FCC45CF1}"/>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3" name="Slide Number Placeholder">
            <a:extLst>
              <a:ext uri="{FF2B5EF4-FFF2-40B4-BE49-F238E27FC236}">
                <a16:creationId xmlns:a16="http://schemas.microsoft.com/office/drawing/2014/main" id="{F9372441-FA7E-4481-BBC2-24CB6D3017C8}"/>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4" name="Siemens Logo">
            <a:extLst>
              <a:ext uri="{FF2B5EF4-FFF2-40B4-BE49-F238E27FC236}">
                <a16:creationId xmlns:a16="http://schemas.microsoft.com/office/drawing/2014/main" id="{0EF6BB07-4F4E-4859-9572-DA63E35B93A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2546440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a:extLst>
                <a:ext uri="{96DAC541-7B7A-43D3-8B79-37D633B846F1}">
                  <asvg:svgBlip xmlns:asvg="http://schemas.microsoft.com/office/drawing/2016/SVG/main" r:embed="rId2"/>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en-US"/>
              <a:t>Agenda</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0" indent="0" algn="l">
              <a:spcAft>
                <a:spcPts val="0"/>
              </a:spcAft>
              <a:buFont typeface="Arial" panose="020B0604020202020204" pitchFamily="34" charset="0"/>
              <a:buNone/>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1"/>
            <a:r>
              <a:rPr lang="en-US"/>
              <a:t>Item 1</a:t>
            </a:r>
          </a:p>
          <a:p>
            <a:pPr lvl="1"/>
            <a:r>
              <a:rPr lang="en-US"/>
              <a:t>Item 2</a:t>
            </a:r>
          </a:p>
          <a:p>
            <a:pPr lvl="1"/>
            <a:r>
              <a:rPr lang="en-US"/>
              <a:t>Item 3</a:t>
            </a:r>
          </a:p>
          <a:p>
            <a:pPr lvl="1"/>
            <a:r>
              <a:rPr lang="en-US"/>
              <a:t>No bullets please</a:t>
            </a:r>
          </a:p>
          <a:p>
            <a:pPr lvl="2"/>
            <a:endParaRPr lang="en-US"/>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en-US"/>
              <a:t>Restricted | © Siemens 2022 | Siemens Digital Industries Software | Where today meets tomorrow. </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45551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a:extLst>
                <a:ext uri="{96DAC541-7B7A-43D3-8B79-37D633B846F1}">
                  <asvg:svgBlip xmlns:asvg="http://schemas.microsoft.com/office/drawing/2016/SVG/main" r:embed="rId2"/>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en-US"/>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a:t>Click to edit the contact</a:t>
            </a:r>
          </a:p>
          <a:p>
            <a:pPr lvl="1"/>
            <a:r>
              <a:rPr lang="en-US"/>
              <a:t>Name etc.</a:t>
            </a:r>
          </a:p>
          <a:p>
            <a:pPr lvl="2"/>
            <a:r>
              <a:rPr lang="en-US"/>
              <a:t>Department etc.</a:t>
            </a:r>
          </a:p>
          <a:p>
            <a:pPr lvl="3"/>
            <a:r>
              <a:rPr lang="en-US"/>
              <a:t>subchapter</a:t>
            </a:r>
          </a:p>
          <a:p>
            <a:pPr lvl="4"/>
            <a:r>
              <a:rPr lang="en-US"/>
              <a:t>active subchapter</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en-US"/>
              <a:t>Restricted | © Siemens 2020 | 2020-12-08 | Siemens Digital Industries Software | Where today meets tomorrow. </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7016618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mask&amp;blur Sustainability 80pt (motif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a:t>Title chart, </a:t>
            </a:r>
            <a:br>
              <a:rPr lang="en-US"/>
            </a:br>
            <a:r>
              <a:rPr lang="en-US"/>
              <a:t>Arial, 80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a:t>Restricted | © Siemens 20XX | Author | Department | YYYY-MM-DD</a:t>
            </a:r>
          </a:p>
        </p:txBody>
      </p:sp>
    </p:spTree>
    <p:extLst>
      <p:ext uri="{BB962C8B-B14F-4D97-AF65-F5344CB8AC3E}">
        <p14:creationId xmlns:p14="http://schemas.microsoft.com/office/powerpoint/2010/main" val="25479351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5562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2022 | Siemens Digital Industries Software | Author | Department | YYYY-MM-DD</a:t>
            </a:r>
          </a:p>
        </p:txBody>
      </p:sp>
    </p:spTree>
    <p:extLst>
      <p:ext uri="{BB962C8B-B14F-4D97-AF65-F5344CB8AC3E}">
        <p14:creationId xmlns:p14="http://schemas.microsoft.com/office/powerpoint/2010/main" val="25930575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Content Slide with Text Box">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2022 | Siemens Digital Industries Software | Author | Department | YYYY-MM-DD</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
        <p:nvSpPr>
          <p:cNvPr id="3" name="Copy 1" descr="Agenda text frame">
            <a:extLst>
              <a:ext uri="{FF2B5EF4-FFF2-40B4-BE49-F238E27FC236}">
                <a16:creationId xmlns:a16="http://schemas.microsoft.com/office/drawing/2014/main" id="{BFC2C0F5-1FF7-A8C4-DAF8-BEDAF279B60D}"/>
              </a:ext>
            </a:extLst>
          </p:cNvPr>
          <p:cNvSpPr>
            <a:spLocks noGrp="1"/>
          </p:cNvSpPr>
          <p:nvPr>
            <p:ph type="body" sz="quarter" idx="12"/>
          </p:nvPr>
        </p:nvSpPr>
        <p:spPr bwMode="black">
          <a:xfrm>
            <a:off x="411163" y="1414463"/>
            <a:ext cx="7199311" cy="4751387"/>
          </a:xfrm>
        </p:spPr>
        <p:txBody>
          <a:bodyPr/>
          <a:lstStyle>
            <a:lvl1pPr defTabSz="360000">
              <a:spcAft>
                <a:spcPts val="900"/>
              </a:spcAft>
              <a:tabLst>
                <a:tab pos="7200000" algn="r"/>
              </a:tabLst>
              <a:defRPr/>
            </a:lvl1pPr>
            <a:lvl2pPr defTabSz="360000">
              <a:spcAft>
                <a:spcPts val="900"/>
              </a:spcAft>
              <a:buClr>
                <a:schemeClr val="tx1"/>
              </a:buClr>
              <a:tabLst>
                <a:tab pos="7200000" algn="r"/>
              </a:tabLst>
              <a:defRPr/>
            </a:lvl2pPr>
            <a:lvl3pPr marL="180000" defTabSz="360000">
              <a:spcAft>
                <a:spcPts val="900"/>
              </a:spcAft>
              <a:buClr>
                <a:schemeClr val="tx1"/>
              </a:buClr>
              <a:tabLst>
                <a:tab pos="7200000" algn="r"/>
              </a:tabLst>
              <a:defRPr b="1"/>
            </a:lvl3pPr>
            <a:lvl4pPr marL="360000" defTabSz="360000">
              <a:spcAft>
                <a:spcPts val="900"/>
              </a:spcAft>
              <a:buClr>
                <a:schemeClr val="tx1"/>
              </a:buClr>
              <a:tabLst>
                <a:tab pos="7200000" algn="r"/>
              </a:tabLst>
              <a:defRPr/>
            </a:lvl4pPr>
            <a:lvl5pPr marL="360000" defTabSz="360000">
              <a:spcAft>
                <a:spcPts val="900"/>
              </a:spcAft>
              <a:buClr>
                <a:schemeClr val="tx1"/>
              </a:buClr>
              <a:tabLst>
                <a:tab pos="7200000" algn="r"/>
              </a:tabLst>
              <a:defRPr b="1"/>
            </a:lvl5pPr>
            <a:lvl6pPr marL="180000" defTabSz="360000">
              <a:spcAft>
                <a:spcPts val="600"/>
              </a:spcAft>
              <a:tabLst>
                <a:tab pos="7200000" algn="r"/>
              </a:tabLst>
              <a:defRPr sz="1600"/>
            </a:lvl6pPr>
            <a:lvl7pPr marL="180000" defTabSz="360000">
              <a:spcAft>
                <a:spcPts val="600"/>
              </a:spcAft>
              <a:tabLst>
                <a:tab pos="7200000" algn="r"/>
              </a:tabLst>
              <a:defRPr sz="1600" b="1"/>
            </a:lvl7pPr>
            <a:lvl8pPr marL="360000" defTabSz="360000">
              <a:spcAft>
                <a:spcPts val="600"/>
              </a:spcAft>
              <a:tabLst>
                <a:tab pos="7200000" algn="r"/>
              </a:tabLst>
              <a:defRPr sz="1600"/>
            </a:lvl8pPr>
            <a:lvl9pPr marL="360000" defTabSz="360000">
              <a:spcAft>
                <a:spcPts val="600"/>
              </a:spcAft>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95694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800">
                <a:solidFill>
                  <a:schemeClr val="tx1"/>
                </a:solidFill>
              </a:defRPr>
            </a:lvl1pPr>
            <a:lvl2pPr marL="0" indent="0" algn="l">
              <a:spcBef>
                <a:spcPts val="600"/>
              </a:spcBef>
              <a:spcAft>
                <a:spcPts val="0"/>
              </a:spcAft>
              <a:buFont typeface="Arial" panose="020B0604020202020204" pitchFamily="34" charset="0"/>
              <a:buNone/>
              <a:defRPr sz="18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Topic one</a:t>
            </a:r>
          </a:p>
          <a:p>
            <a:pPr lvl="1"/>
            <a:r>
              <a:rPr lang="en-US"/>
              <a:t>Topic two</a:t>
            </a:r>
          </a:p>
          <a:p>
            <a:pPr lvl="1"/>
            <a:r>
              <a:rPr lang="en-US"/>
              <a:t>Topic three</a:t>
            </a:r>
          </a:p>
          <a:p>
            <a:pPr lvl="1"/>
            <a:r>
              <a:rPr lang="en-US"/>
              <a:t>Keep it simple</a:t>
            </a:r>
          </a:p>
          <a:p>
            <a:pPr lvl="1"/>
            <a:r>
              <a:rPr lang="en-US"/>
              <a:t>Avoid bullets</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2022 | Siemens Digital Industries Software | Author | Department | YYYY-MM-DD</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
        <p:nvSpPr>
          <p:cNvPr id="2" name="TextBox 1">
            <a:extLst>
              <a:ext uri="{FF2B5EF4-FFF2-40B4-BE49-F238E27FC236}">
                <a16:creationId xmlns:a16="http://schemas.microsoft.com/office/drawing/2014/main" id="{3204973C-585D-106E-D65B-DFA8DCF8C463}"/>
              </a:ext>
            </a:extLst>
          </p:cNvPr>
          <p:cNvSpPr txBox="1"/>
          <p:nvPr userDrawn="1"/>
        </p:nvSpPr>
        <p:spPr>
          <a:xfrm>
            <a:off x="1058400" y="1234440"/>
            <a:ext cx="3762248" cy="1231106"/>
          </a:xfrm>
          <a:prstGeom prst="rect">
            <a:avLst/>
          </a:prstGeom>
          <a:noFill/>
        </p:spPr>
        <p:txBody>
          <a:bodyPr wrap="none" lIns="0" tIns="0" rIns="0" bIns="0" rtlCol="0">
            <a:spAutoFit/>
          </a:bodyPr>
          <a:lstStyle/>
          <a:p>
            <a:pPr algn="l"/>
            <a:r>
              <a:rPr lang="en-US" sz="8000" b="1">
                <a:solidFill>
                  <a:schemeClr val="tx1"/>
                </a:solidFill>
              </a:rPr>
              <a:t>Agenda</a:t>
            </a:r>
          </a:p>
        </p:txBody>
      </p:sp>
    </p:spTree>
    <p:extLst>
      <p:ext uri="{BB962C8B-B14F-4D97-AF65-F5344CB8AC3E}">
        <p14:creationId xmlns:p14="http://schemas.microsoft.com/office/powerpoint/2010/main" val="18808386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Name etc.</a:t>
            </a:r>
          </a:p>
          <a:p>
            <a:pPr lvl="3"/>
            <a:r>
              <a:rPr lang="en-US"/>
              <a:t>Name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2022 | Siemens Digital Industries Software | Author | Department | YYYY-MM-DD</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5063906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6581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2.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p>
            <a:r>
              <a:rPr lang="en-US"/>
              <a:t>Click to edit Master title style</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2022 | Siemens Digital Industries Software | Where today meets tomorrow. </a:t>
            </a:r>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1160271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703" r:id="rId38"/>
  </p:sldLayoutIdLst>
  <p:hf sldNum="0"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2022 | Siemens Digital Industries Software | Author | Department | YYYY-MM-DD</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16272647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4" r:id="rId5"/>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40.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A50F0F-6C10-F62D-FE71-53DCBB2BF854}"/>
              </a:ext>
            </a:extLst>
          </p:cNvPr>
          <p:cNvSpPr>
            <a:spLocks noGrp="1"/>
          </p:cNvSpPr>
          <p:nvPr>
            <p:ph type="ftr" sz="quarter" idx="10"/>
          </p:nvPr>
        </p:nvSpPr>
        <p:spPr/>
        <p:txBody>
          <a:bodyPr/>
          <a:lstStyle/>
          <a:p>
            <a:r>
              <a:rPr lang="en-US" dirty="0"/>
              <a:t>Restricted | © Siemens 2026 | Siemens Digital Industries Software | Where today meets tomorrow. </a:t>
            </a:r>
          </a:p>
        </p:txBody>
      </p:sp>
      <p:sp>
        <p:nvSpPr>
          <p:cNvPr id="6" name="Title">
            <a:extLst>
              <a:ext uri="{FF2B5EF4-FFF2-40B4-BE49-F238E27FC236}">
                <a16:creationId xmlns:a16="http://schemas.microsoft.com/office/drawing/2014/main" id="{DA865AB3-8AE0-4AB0-94C2-2E517EC147DE}"/>
              </a:ext>
            </a:extLst>
          </p:cNvPr>
          <p:cNvSpPr>
            <a:spLocks noGrp="1"/>
          </p:cNvSpPr>
          <p:nvPr>
            <p:ph type="title"/>
          </p:nvPr>
        </p:nvSpPr>
        <p:spPr>
          <a:xfrm>
            <a:off x="410400" y="385268"/>
            <a:ext cx="11689236" cy="738664"/>
          </a:xfrm>
        </p:spPr>
        <p:txBody>
          <a:bodyPr/>
          <a:lstStyle/>
          <a:p>
            <a:pPr marL="413385"/>
            <a:r>
              <a:rPr lang="en-US" sz="4800" dirty="0">
                <a:cs typeface="Arial"/>
              </a:rPr>
              <a:t>End-Sem Internship Review</a:t>
            </a:r>
          </a:p>
        </p:txBody>
      </p:sp>
      <p:sp>
        <p:nvSpPr>
          <p:cNvPr id="7" name="TextBox 6">
            <a:extLst>
              <a:ext uri="{FF2B5EF4-FFF2-40B4-BE49-F238E27FC236}">
                <a16:creationId xmlns:a16="http://schemas.microsoft.com/office/drawing/2014/main" id="{156C5179-30EE-BCC0-657C-41A5F1048B95}"/>
              </a:ext>
            </a:extLst>
          </p:cNvPr>
          <p:cNvSpPr txBox="1"/>
          <p:nvPr/>
        </p:nvSpPr>
        <p:spPr>
          <a:xfrm>
            <a:off x="2823305" y="3055646"/>
            <a:ext cx="6875858" cy="1323439"/>
          </a:xfrm>
          <a:prstGeom prst="rect">
            <a:avLst/>
          </a:prstGeom>
          <a:noFill/>
        </p:spPr>
        <p:txBody>
          <a:bodyPr wrap="square">
            <a:spAutoFit/>
          </a:bodyPr>
          <a:lstStyle/>
          <a:p>
            <a:r>
              <a:rPr lang="en-US" sz="2000" b="1" dirty="0">
                <a:cs typeface="Arial"/>
              </a:rPr>
              <a:t>Presenter:  Yash Shewalkar </a:t>
            </a:r>
            <a:r>
              <a:rPr lang="en-US" sz="2000" dirty="0">
                <a:cs typeface="Arial"/>
              </a:rPr>
              <a:t>(AI Intern at Siemens DISW)</a:t>
            </a:r>
          </a:p>
          <a:p>
            <a:endParaRPr lang="en-US" sz="2000" dirty="0">
              <a:cs typeface="Arial"/>
            </a:endParaRPr>
          </a:p>
          <a:p>
            <a:r>
              <a:rPr lang="en-US" sz="2000" dirty="0">
                <a:cs typeface="Arial"/>
              </a:rPr>
              <a:t>Date: 14/05/2026</a:t>
            </a:r>
          </a:p>
          <a:p>
            <a:endParaRPr lang="en-US" sz="2000" dirty="0">
              <a:cs typeface="Arial"/>
            </a:endParaRPr>
          </a:p>
        </p:txBody>
      </p:sp>
    </p:spTree>
    <p:extLst>
      <p:ext uri="{BB962C8B-B14F-4D97-AF65-F5344CB8AC3E}">
        <p14:creationId xmlns:p14="http://schemas.microsoft.com/office/powerpoint/2010/main" val="477530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7A0CB-0732-8DD3-D676-4EB7AB124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414AC-45CC-A837-2844-64FF2EC57782}"/>
              </a:ext>
            </a:extLst>
          </p:cNvPr>
          <p:cNvSpPr>
            <a:spLocks noGrp="1"/>
          </p:cNvSpPr>
          <p:nvPr>
            <p:ph type="title"/>
          </p:nvPr>
        </p:nvSpPr>
        <p:spPr>
          <a:xfrm>
            <a:off x="371108" y="363867"/>
            <a:ext cx="11554552" cy="738664"/>
          </a:xfrm>
        </p:spPr>
        <p:txBody>
          <a:bodyPr/>
          <a:lstStyle/>
          <a:p>
            <a:pPr marL="413385"/>
            <a:r>
              <a:rPr lang="en-US" sz="4800" dirty="0" err="1">
                <a:cs typeface="Arial"/>
              </a:rPr>
              <a:t>AdvantEdge</a:t>
            </a:r>
            <a:r>
              <a:rPr lang="en-US" sz="4800" dirty="0">
                <a:cs typeface="Arial"/>
              </a:rPr>
              <a:t> AI – Siemens DISW GCO</a:t>
            </a:r>
            <a:endParaRPr lang="en-US" sz="4800" dirty="0"/>
          </a:p>
        </p:txBody>
      </p:sp>
      <p:sp>
        <p:nvSpPr>
          <p:cNvPr id="4" name="Footer Placeholder 3">
            <a:extLst>
              <a:ext uri="{FF2B5EF4-FFF2-40B4-BE49-F238E27FC236}">
                <a16:creationId xmlns:a16="http://schemas.microsoft.com/office/drawing/2014/main" id="{4B1A5B95-0DCC-49B5-31D8-5BFB3048246D}"/>
              </a:ext>
            </a:extLst>
          </p:cNvPr>
          <p:cNvSpPr>
            <a:spLocks noGrp="1"/>
          </p:cNvSpPr>
          <p:nvPr>
            <p:ph type="ftr" sz="quarter" idx="10"/>
          </p:nvPr>
        </p:nvSpPr>
        <p:spPr/>
        <p:txBody>
          <a:bodyPr/>
          <a:lstStyle/>
          <a:p>
            <a:pPr>
              <a:lnSpc>
                <a:spcPct val="100000"/>
              </a:lnSpc>
            </a:pPr>
            <a:r>
              <a:rPr lang="en-US" dirty="0"/>
              <a:t>Restricted | © Siemens 2026 | Siemens Digital Industries Software | Where today meets tomorrow. </a:t>
            </a:r>
          </a:p>
        </p:txBody>
      </p:sp>
      <p:pic>
        <p:nvPicPr>
          <p:cNvPr id="6" name="Main shape &quot;Combining the real and the digital&quot;" descr="A green and blue infinity symbol&#10;&#10;AI-generated content may be incorrect.">
            <a:extLst>
              <a:ext uri="{FF2B5EF4-FFF2-40B4-BE49-F238E27FC236}">
                <a16:creationId xmlns:a16="http://schemas.microsoft.com/office/drawing/2014/main" id="{7DE3ED64-3A35-479A-6874-6ADA3A2563C5}"/>
              </a:ext>
              <a:ext uri="{C183D7F6-B498-43B3-948B-1728B52AA6E4}">
                <adec:decorative xmlns:adec="http://schemas.microsoft.com/office/drawing/2017/decorative" val="0"/>
              </a:ext>
            </a:extLst>
          </p:cNvPr>
          <p:cNvPicPr>
            <a:picLocks noChangeAspect="1"/>
          </p:cNvPicPr>
          <p:nvPr/>
        </p:nvPicPr>
        <p:blipFill rotWithShape="1">
          <a:blip r:embed="rId3"/>
          <a:srcRect t="-8" r="17036" b="-8"/>
          <a:stretch/>
        </p:blipFill>
        <p:spPr bwMode="ltGray">
          <a:xfrm>
            <a:off x="8309248" y="2247241"/>
            <a:ext cx="3882752" cy="2359849"/>
          </a:xfrm>
          <a:prstGeom prst="rect">
            <a:avLst/>
          </a:prstGeom>
        </p:spPr>
      </p:pic>
      <p:sp>
        <p:nvSpPr>
          <p:cNvPr id="7" name="TextBox 6">
            <a:extLst>
              <a:ext uri="{FF2B5EF4-FFF2-40B4-BE49-F238E27FC236}">
                <a16:creationId xmlns:a16="http://schemas.microsoft.com/office/drawing/2014/main" id="{234D030F-D8F9-2D3F-013A-618AB796CDCD}"/>
              </a:ext>
            </a:extLst>
          </p:cNvPr>
          <p:cNvSpPr txBox="1"/>
          <p:nvPr/>
        </p:nvSpPr>
        <p:spPr>
          <a:xfrm>
            <a:off x="469465" y="1539808"/>
            <a:ext cx="7631874"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gn="just">
              <a:buFont typeface="Wingdings"/>
              <a:buChar char="Ø"/>
            </a:pPr>
            <a:r>
              <a:rPr lang="en-US" sz="1600" b="1" dirty="0">
                <a:latin typeface="+mj-lt"/>
                <a:ea typeface="Calibri"/>
                <a:cs typeface="Calibri"/>
              </a:rPr>
              <a:t>Part of </a:t>
            </a:r>
            <a:r>
              <a:rPr lang="en-US" sz="1600" b="1" dirty="0" err="1">
                <a:latin typeface="+mj-lt"/>
                <a:ea typeface="Calibri"/>
                <a:cs typeface="Calibri"/>
              </a:rPr>
              <a:t>AdvantEdge</a:t>
            </a:r>
            <a:r>
              <a:rPr lang="en-US" sz="1600" b="1" dirty="0">
                <a:latin typeface="+mj-lt"/>
                <a:ea typeface="Calibri"/>
                <a:cs typeface="Calibri"/>
              </a:rPr>
              <a:t> AI program, an innovative AI initiative within Siemens Global Customer Operations (GCO). This program is dedicated to enhancing employee productivity, automating manual processes, and accelerating customer project timelines through the development and implementation of advanced AI tools.</a:t>
            </a:r>
            <a:r>
              <a:rPr lang="en-US" sz="1600" dirty="0">
                <a:latin typeface="+mj-lt"/>
                <a:ea typeface="Calibri"/>
                <a:cs typeface="Calibri"/>
              </a:rPr>
              <a:t>​</a:t>
            </a:r>
            <a:endParaRPr lang="en-US" sz="1600" dirty="0">
              <a:latin typeface="+mj-lt"/>
              <a:cs typeface="Arial"/>
            </a:endParaRPr>
          </a:p>
          <a:p>
            <a:pPr marL="285750" indent="-285750" algn="just">
              <a:buFont typeface="Wingdings"/>
              <a:buChar char="Ø"/>
            </a:pPr>
            <a:endParaRPr lang="en-US" sz="1600" dirty="0">
              <a:latin typeface="+mj-lt"/>
              <a:ea typeface="Calibri"/>
              <a:cs typeface="Calibri"/>
            </a:endParaRPr>
          </a:p>
          <a:p>
            <a:pPr marL="285750" indent="-285750" algn="just">
              <a:buFont typeface="Wingdings"/>
              <a:buChar char="Ø"/>
            </a:pPr>
            <a:r>
              <a:rPr lang="en-US" sz="1600" b="1" dirty="0">
                <a:latin typeface="+mj-lt"/>
                <a:ea typeface="Calibri"/>
                <a:cs typeface="Calibri"/>
              </a:rPr>
              <a:t>Team Composition:</a:t>
            </a:r>
            <a:r>
              <a:rPr lang="en-US" sz="1600" dirty="0">
                <a:latin typeface="+mj-lt"/>
                <a:ea typeface="Calibri"/>
                <a:cs typeface="Calibri"/>
              </a:rPr>
              <a:t>​</a:t>
            </a:r>
          </a:p>
          <a:p>
            <a:pPr marL="742950" lvl="1" indent="-285750" fontAlgn="base">
              <a:buFont typeface="Arial" panose="020B0604020202020204" pitchFamily="34" charset="0"/>
              <a:buChar char="•"/>
            </a:pPr>
            <a:r>
              <a:rPr lang="en-US" sz="1600" b="1" dirty="0">
                <a:latin typeface="+mj-lt"/>
              </a:rPr>
              <a:t>Advisors</a:t>
            </a:r>
            <a:r>
              <a:rPr lang="en-US" sz="1600" dirty="0">
                <a:latin typeface="+mj-lt"/>
              </a:rPr>
              <a:t>: The program is guided by experienced advisors.​</a:t>
            </a:r>
          </a:p>
          <a:p>
            <a:pPr marL="742950" lvl="1" indent="-285750" fontAlgn="base">
              <a:buFont typeface="Arial" panose="020B0604020202020204" pitchFamily="34" charset="0"/>
              <a:buChar char="•"/>
            </a:pPr>
            <a:r>
              <a:rPr lang="en-US" sz="1600" b="1" dirty="0">
                <a:latin typeface="+mj-lt"/>
              </a:rPr>
              <a:t>Architects</a:t>
            </a:r>
            <a:r>
              <a:rPr lang="en-US" sz="1600" dirty="0">
                <a:latin typeface="+mj-lt"/>
              </a:rPr>
              <a:t>: ​</a:t>
            </a:r>
            <a:r>
              <a:rPr lang="en-IN" sz="1600" dirty="0">
                <a:latin typeface="+mj-lt"/>
              </a:rPr>
              <a:t>An experienced architect offers design insight and technical guidance, ensuring projects align with best practices and strategic goals.</a:t>
            </a:r>
            <a:r>
              <a:rPr lang="en-US" sz="1600" dirty="0">
                <a:latin typeface="+mj-lt"/>
              </a:rPr>
              <a:t>​</a:t>
            </a:r>
          </a:p>
          <a:p>
            <a:pPr marL="742950" lvl="1" indent="-285750" fontAlgn="base">
              <a:buFont typeface="Arial" panose="020B0604020202020204" pitchFamily="34" charset="0"/>
              <a:buChar char="•"/>
            </a:pPr>
            <a:r>
              <a:rPr lang="en-US" sz="1600" b="1" dirty="0">
                <a:latin typeface="+mj-lt"/>
              </a:rPr>
              <a:t>Co-ops:</a:t>
            </a:r>
            <a:r>
              <a:rPr lang="en-US" sz="1600" dirty="0">
                <a:latin typeface="+mj-lt"/>
              </a:rPr>
              <a:t> A dynamic team of five interns, including myself, actively contributes to various projects within the program.​</a:t>
            </a:r>
          </a:p>
          <a:p>
            <a:pPr marL="742950" lvl="1" indent="-285750" algn="just">
              <a:buFont typeface="Wingdings"/>
              <a:buChar char="Ø"/>
            </a:pPr>
            <a:endParaRPr lang="en-US" sz="1600" dirty="0">
              <a:latin typeface="+mj-lt"/>
              <a:ea typeface="Calibri"/>
              <a:cs typeface="Calibri"/>
            </a:endParaRPr>
          </a:p>
          <a:p>
            <a:pPr marL="285750" indent="-285750" algn="just">
              <a:buFont typeface="Wingdings"/>
              <a:buChar char="Ø"/>
            </a:pPr>
            <a:r>
              <a:rPr lang="en-US" sz="1600" dirty="0">
                <a:latin typeface="+mj-lt"/>
                <a:ea typeface="Calibri"/>
                <a:cs typeface="Calibri"/>
              </a:rPr>
              <a:t>​</a:t>
            </a:r>
            <a:r>
              <a:rPr lang="en-US" sz="1600" b="1" dirty="0">
                <a:latin typeface="+mj-lt"/>
                <a:ea typeface="Calibri"/>
                <a:cs typeface="Calibri"/>
              </a:rPr>
              <a:t>My Role:</a:t>
            </a:r>
            <a:r>
              <a:rPr lang="en-US" sz="1600" dirty="0">
                <a:latin typeface="+mj-lt"/>
                <a:ea typeface="Calibri"/>
                <a:cs typeface="Calibri"/>
              </a:rPr>
              <a:t>​</a:t>
            </a:r>
            <a:endParaRPr lang="en-US" sz="1600" dirty="0">
              <a:latin typeface="+mj-lt"/>
              <a:cs typeface="Arial"/>
            </a:endParaRPr>
          </a:p>
          <a:p>
            <a:pPr marL="742950" lvl="1" indent="-285750">
              <a:buFont typeface="Arial"/>
              <a:buChar char="•"/>
            </a:pPr>
            <a:r>
              <a:rPr lang="en-US" sz="1600" dirty="0">
                <a:latin typeface="+mj-lt"/>
                <a:ea typeface="Calibri"/>
                <a:cs typeface="Calibri"/>
              </a:rPr>
              <a:t>As a co-op intern, I am deeply involved in several projects, collaborating closely with advisors and peers to develop innovative AI solutions. My contributions include research, development, and implementation of AI tools that align with the program's objectives.</a:t>
            </a:r>
          </a:p>
        </p:txBody>
      </p:sp>
    </p:spTree>
    <p:extLst>
      <p:ext uri="{BB962C8B-B14F-4D97-AF65-F5344CB8AC3E}">
        <p14:creationId xmlns:p14="http://schemas.microsoft.com/office/powerpoint/2010/main" val="2311554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FDA17C2-CC0D-4A70-A1C4-4DAA44F64772}"/>
              </a:ext>
            </a:extLst>
          </p:cNvPr>
          <p:cNvSpPr>
            <a:spLocks noGrp="1"/>
          </p:cNvSpPr>
          <p:nvPr>
            <p:ph type="ftr" sz="quarter" idx="10"/>
          </p:nvPr>
        </p:nvSpPr>
        <p:spPr/>
        <p:txBody>
          <a:bodyPr/>
          <a:lstStyle/>
          <a:p>
            <a:pPr algn="l"/>
            <a:r>
              <a:rPr lang="en-US" dirty="0"/>
              <a:t>Restricted | © Siemens 2026 | Siemens Digital Industries Software | Where today meets tomorrow.</a:t>
            </a:r>
          </a:p>
        </p:txBody>
      </p:sp>
      <p:sp>
        <p:nvSpPr>
          <p:cNvPr id="4" name="Subtitle 2">
            <a:extLst>
              <a:ext uri="{FF2B5EF4-FFF2-40B4-BE49-F238E27FC236}">
                <a16:creationId xmlns:a16="http://schemas.microsoft.com/office/drawing/2014/main" id="{09D7D770-C8FB-6260-CAE2-C022897CD097}"/>
              </a:ext>
            </a:extLst>
          </p:cNvPr>
          <p:cNvSpPr txBox="1">
            <a:spLocks/>
          </p:cNvSpPr>
          <p:nvPr/>
        </p:nvSpPr>
        <p:spPr>
          <a:xfrm>
            <a:off x="802177" y="1102531"/>
            <a:ext cx="11234189" cy="3350984"/>
          </a:xfrm>
          <a:prstGeom prst="rect">
            <a:avLst/>
          </a:prstGeom>
        </p:spPr>
        <p:txBody>
          <a:bodyPr vert="horz" lIns="0" tIns="349200" rIns="0" bIns="0" rtlCol="0" anchor="t">
            <a:noAutofit/>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2400" kern="1200">
                <a:solidFill>
                  <a:schemeClr val="tx1"/>
                </a:solidFill>
                <a:latin typeface="+mn-lt"/>
                <a:ea typeface="+mn-ea"/>
                <a:cs typeface="+mn-cs"/>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kern="1200">
                <a:solidFill>
                  <a:schemeClr val="tx1"/>
                </a:solidFill>
                <a:latin typeface="+mn-lt"/>
                <a:ea typeface="+mn-ea"/>
                <a:cs typeface="+mn-cs"/>
              </a:defRPr>
            </a:lvl2pPr>
            <a:lvl3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5pPr>
            <a:lvl6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6pPr>
            <a:lvl7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8pPr>
            <a:lvl9pPr marL="0" indent="0" algn="l" defTabSz="914400" rtl="0" eaLnBrk="1" latinLnBrk="0" hangingPunct="1">
              <a:lnSpc>
                <a:spcPct val="110000"/>
              </a:lnSpc>
              <a:spcBef>
                <a:spcPts val="0"/>
              </a:spcBef>
              <a:spcAft>
                <a:spcPts val="300"/>
              </a:spcAft>
              <a:buClr>
                <a:schemeClr val="accent1"/>
              </a:buClr>
              <a:buFont typeface="Arial" panose="020B0604020202020204" pitchFamily="34" charset="0"/>
              <a:buNone/>
              <a:defRPr sz="1600" kern="1200">
                <a:solidFill>
                  <a:schemeClr val="tx1"/>
                </a:solidFill>
                <a:latin typeface="+mn-lt"/>
                <a:ea typeface="+mn-ea"/>
                <a:cs typeface="+mn-cs"/>
              </a:defRPr>
            </a:lvl9pPr>
          </a:lstStyle>
          <a:p>
            <a:endParaRPr lang="en-US" sz="2800" b="1" dirty="0">
              <a:cs typeface="Arial"/>
            </a:endParaRPr>
          </a:p>
          <a:p>
            <a:pPr marL="457200" indent="-457200">
              <a:buFont typeface="Arial" panose="020B0604020202020204" pitchFamily="34" charset="0"/>
              <a:buAutoNum type="arabicPeriod"/>
            </a:pPr>
            <a:r>
              <a:rPr lang="en-US" b="1" dirty="0">
                <a:cs typeface="Arial"/>
              </a:rPr>
              <a:t>Dr. Ajinkya Bhave </a:t>
            </a:r>
            <a:r>
              <a:rPr lang="en-US" dirty="0">
                <a:cs typeface="Arial"/>
              </a:rPr>
              <a:t>(Director and Head, </a:t>
            </a:r>
            <a:r>
              <a:rPr lang="en-US" dirty="0" err="1">
                <a:cs typeface="Arial"/>
              </a:rPr>
              <a:t>CoE</a:t>
            </a:r>
            <a:r>
              <a:rPr lang="en-US" dirty="0">
                <a:cs typeface="Arial"/>
              </a:rPr>
              <a:t> India at Siemens DISW)</a:t>
            </a:r>
          </a:p>
          <a:p>
            <a:pPr marL="457200" indent="-457200">
              <a:buFont typeface="Arial" panose="020B0604020202020204" pitchFamily="34" charset="0"/>
              <a:buAutoNum type="arabicPeriod"/>
            </a:pPr>
            <a:r>
              <a:rPr lang="en-US" b="1" dirty="0">
                <a:cs typeface="Arial"/>
              </a:rPr>
              <a:t>Omkar Mundlik </a:t>
            </a:r>
            <a:r>
              <a:rPr lang="en-US" dirty="0">
                <a:cs typeface="Arial"/>
              </a:rPr>
              <a:t>(</a:t>
            </a:r>
            <a:r>
              <a:rPr lang="en-US" dirty="0"/>
              <a:t>Technical Solution Architect </a:t>
            </a:r>
            <a:r>
              <a:rPr lang="en-US" dirty="0" err="1"/>
              <a:t>Advantedge</a:t>
            </a:r>
            <a:r>
              <a:rPr lang="en-US" dirty="0"/>
              <a:t> AI</a:t>
            </a:r>
            <a:r>
              <a:rPr lang="en-US" dirty="0">
                <a:cs typeface="Arial"/>
              </a:rPr>
              <a:t> at Siemens DISW)</a:t>
            </a:r>
          </a:p>
          <a:p>
            <a:pPr marL="457200" indent="-457200">
              <a:buFont typeface="Arial" panose="020B0604020202020204" pitchFamily="34" charset="0"/>
              <a:buAutoNum type="arabicPeriod"/>
            </a:pPr>
            <a:r>
              <a:rPr lang="en-US" b="1" dirty="0">
                <a:cs typeface="Arial"/>
              </a:rPr>
              <a:t>Sanskruti Khedkar </a:t>
            </a:r>
            <a:r>
              <a:rPr lang="en-US" dirty="0">
                <a:cs typeface="Arial"/>
              </a:rPr>
              <a:t>(</a:t>
            </a:r>
            <a:r>
              <a:rPr lang="en-US" dirty="0"/>
              <a:t>Technical Solution Architect </a:t>
            </a:r>
            <a:r>
              <a:rPr lang="en-US" dirty="0" err="1"/>
              <a:t>Advantedge</a:t>
            </a:r>
            <a:r>
              <a:rPr lang="en-US" dirty="0"/>
              <a:t> AI </a:t>
            </a:r>
            <a:r>
              <a:rPr lang="en-US" dirty="0">
                <a:cs typeface="Arial"/>
              </a:rPr>
              <a:t>at Siemens DISW)</a:t>
            </a:r>
          </a:p>
          <a:p>
            <a:pPr marL="457200" indent="-457200">
              <a:buFont typeface="Arial" panose="020B0604020202020204" pitchFamily="34" charset="0"/>
              <a:buAutoNum type="arabicPeriod"/>
            </a:pPr>
            <a:r>
              <a:rPr lang="en-US" b="1" dirty="0" err="1">
                <a:cs typeface="Arial"/>
              </a:rPr>
              <a:t>Aript</a:t>
            </a:r>
            <a:r>
              <a:rPr lang="en-US" b="1" dirty="0">
                <a:cs typeface="Arial"/>
              </a:rPr>
              <a:t> Saikia </a:t>
            </a:r>
            <a:r>
              <a:rPr lang="en-US" dirty="0">
                <a:cs typeface="Arial"/>
              </a:rPr>
              <a:t>(</a:t>
            </a:r>
            <a:r>
              <a:rPr lang="en-US" dirty="0"/>
              <a:t>Technical Solution Architect </a:t>
            </a:r>
            <a:r>
              <a:rPr lang="en-US" dirty="0" err="1"/>
              <a:t>Advantedge</a:t>
            </a:r>
            <a:r>
              <a:rPr lang="en-US" dirty="0"/>
              <a:t> AI </a:t>
            </a:r>
            <a:r>
              <a:rPr lang="en-US" dirty="0">
                <a:cs typeface="Arial"/>
              </a:rPr>
              <a:t>at Siemens DISW)</a:t>
            </a:r>
          </a:p>
          <a:p>
            <a:pPr marL="457200" indent="-457200">
              <a:buFont typeface="Arial" panose="020B0604020202020204" pitchFamily="34" charset="0"/>
              <a:buAutoNum type="arabicPeriod"/>
            </a:pPr>
            <a:endParaRPr lang="en-US" dirty="0">
              <a:cs typeface="Arial"/>
            </a:endParaRPr>
          </a:p>
          <a:p>
            <a:endParaRPr lang="en-US" dirty="0">
              <a:cs typeface="Arial"/>
            </a:endParaRPr>
          </a:p>
          <a:p>
            <a:endParaRPr lang="en-US" dirty="0">
              <a:cs typeface="Arial"/>
            </a:endParaRPr>
          </a:p>
          <a:p>
            <a:endParaRPr lang="en-US" dirty="0">
              <a:cs typeface="Arial"/>
            </a:endParaRPr>
          </a:p>
          <a:p>
            <a:pPr marL="457200" indent="-457200">
              <a:buAutoNum type="arabicPeriod"/>
            </a:pPr>
            <a:endParaRPr lang="en-US" dirty="0">
              <a:cs typeface="Arial"/>
            </a:endParaRPr>
          </a:p>
          <a:p>
            <a:endParaRPr lang="en-US" dirty="0">
              <a:cs typeface="Arial"/>
            </a:endParaRPr>
          </a:p>
        </p:txBody>
      </p:sp>
      <p:sp>
        <p:nvSpPr>
          <p:cNvPr id="9" name="Title 1">
            <a:extLst>
              <a:ext uri="{FF2B5EF4-FFF2-40B4-BE49-F238E27FC236}">
                <a16:creationId xmlns:a16="http://schemas.microsoft.com/office/drawing/2014/main" id="{6BB40378-4829-DBAE-193E-B628F3962EF4}"/>
              </a:ext>
            </a:extLst>
          </p:cNvPr>
          <p:cNvSpPr>
            <a:spLocks noGrp="1"/>
          </p:cNvSpPr>
          <p:nvPr>
            <p:ph type="title"/>
          </p:nvPr>
        </p:nvSpPr>
        <p:spPr>
          <a:xfrm>
            <a:off x="371108" y="363867"/>
            <a:ext cx="11554552" cy="738664"/>
          </a:xfrm>
        </p:spPr>
        <p:txBody>
          <a:bodyPr/>
          <a:lstStyle/>
          <a:p>
            <a:pPr marL="413385"/>
            <a:r>
              <a:rPr lang="en-US" sz="4800" dirty="0">
                <a:cs typeface="Arial"/>
              </a:rPr>
              <a:t>Mentors</a:t>
            </a:r>
            <a:endParaRPr lang="en-US" sz="4800" dirty="0"/>
          </a:p>
        </p:txBody>
      </p:sp>
    </p:spTree>
    <p:extLst>
      <p:ext uri="{BB962C8B-B14F-4D97-AF65-F5344CB8AC3E}">
        <p14:creationId xmlns:p14="http://schemas.microsoft.com/office/powerpoint/2010/main" val="1961097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62E7-96BD-0D86-207A-8951FFB88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D85D4-E197-7E72-B385-661339EB935B}"/>
              </a:ext>
            </a:extLst>
          </p:cNvPr>
          <p:cNvSpPr>
            <a:spLocks noGrp="1"/>
          </p:cNvSpPr>
          <p:nvPr>
            <p:ph type="title"/>
          </p:nvPr>
        </p:nvSpPr>
        <p:spPr>
          <a:xfrm>
            <a:off x="408087" y="250240"/>
            <a:ext cx="9555078" cy="565703"/>
          </a:xfrm>
        </p:spPr>
        <p:txBody>
          <a:bodyPr/>
          <a:lstStyle/>
          <a:p>
            <a:r>
              <a:rPr lang="en-US" sz="2800" dirty="0"/>
              <a:t>Internship Work</a:t>
            </a:r>
          </a:p>
        </p:txBody>
      </p:sp>
      <p:sp>
        <p:nvSpPr>
          <p:cNvPr id="3" name="Footer Placeholder 2">
            <a:extLst>
              <a:ext uri="{FF2B5EF4-FFF2-40B4-BE49-F238E27FC236}">
                <a16:creationId xmlns:a16="http://schemas.microsoft.com/office/drawing/2014/main" id="{5EA28914-6E75-E5CC-ED63-FE790BBD509D}"/>
              </a:ext>
            </a:extLst>
          </p:cNvPr>
          <p:cNvSpPr>
            <a:spLocks noGrp="1"/>
          </p:cNvSpPr>
          <p:nvPr>
            <p:ph type="ftr" sz="quarter" idx="10"/>
          </p:nvPr>
        </p:nvSpPr>
        <p:spPr/>
        <p:txBody>
          <a:bodyPr/>
          <a:lstStyle/>
          <a:p>
            <a:pPr>
              <a:lnSpc>
                <a:spcPct val="100000"/>
              </a:lnSpc>
            </a:pPr>
            <a:r>
              <a:rPr lang="en-US"/>
              <a:t>Restricted | © Siemens 2023 | Siemens Digital Industries Software | Author | Department | YYYY-MM-DD</a:t>
            </a:r>
          </a:p>
        </p:txBody>
      </p:sp>
      <p:sp>
        <p:nvSpPr>
          <p:cNvPr id="4" name="Slide Number Placeholder 3">
            <a:extLst>
              <a:ext uri="{FF2B5EF4-FFF2-40B4-BE49-F238E27FC236}">
                <a16:creationId xmlns:a16="http://schemas.microsoft.com/office/drawing/2014/main" id="{A375068F-471C-0F78-41C9-E4BE64DA5220}"/>
              </a:ext>
            </a:extLst>
          </p:cNvPr>
          <p:cNvSpPr>
            <a:spLocks noGrp="1"/>
          </p:cNvSpPr>
          <p:nvPr>
            <p:ph type="sldNum" sz="quarter" idx="11"/>
          </p:nvPr>
        </p:nvSpPr>
        <p:spPr/>
        <p:txBody>
          <a:bodyPr/>
          <a:lstStyle/>
          <a:p>
            <a:r>
              <a:rPr lang="en-US"/>
              <a:t>Page </a:t>
            </a:r>
            <a:fld id="{15EBE321-CBB1-4E91-BD14-37C8D44326FB}" type="slidenum">
              <a:rPr lang="en-US" smtClean="0"/>
              <a:pPr/>
              <a:t>4</a:t>
            </a:fld>
            <a:endParaRPr lang="en-US"/>
          </a:p>
        </p:txBody>
      </p:sp>
      <p:graphicFrame>
        <p:nvGraphicFramePr>
          <p:cNvPr id="5" name="Table 4">
            <a:extLst>
              <a:ext uri="{FF2B5EF4-FFF2-40B4-BE49-F238E27FC236}">
                <a16:creationId xmlns:a16="http://schemas.microsoft.com/office/drawing/2014/main" id="{A87732DD-5D4F-BA9B-CA2C-6FAF6B197976}"/>
              </a:ext>
            </a:extLst>
          </p:cNvPr>
          <p:cNvGraphicFramePr>
            <a:graphicFrameLocks noGrp="1"/>
          </p:cNvGraphicFramePr>
          <p:nvPr>
            <p:extLst>
              <p:ext uri="{D42A27DB-BD31-4B8C-83A1-F6EECF244321}">
                <p14:modId xmlns:p14="http://schemas.microsoft.com/office/powerpoint/2010/main" val="2254282809"/>
              </p:ext>
            </p:extLst>
          </p:nvPr>
        </p:nvGraphicFramePr>
        <p:xfrm>
          <a:off x="408087" y="1268197"/>
          <a:ext cx="11347100" cy="3861706"/>
        </p:xfrm>
        <a:graphic>
          <a:graphicData uri="http://schemas.openxmlformats.org/drawingml/2006/table">
            <a:tbl>
              <a:tblPr firstRow="1" bandRow="1">
                <a:tableStyleId>{BDBED569-4797-4DF1-A0F4-6AAB3CD982D8}</a:tableStyleId>
              </a:tblPr>
              <a:tblGrid>
                <a:gridCol w="2836775">
                  <a:extLst>
                    <a:ext uri="{9D8B030D-6E8A-4147-A177-3AD203B41FA5}">
                      <a16:colId xmlns:a16="http://schemas.microsoft.com/office/drawing/2014/main" val="3643900850"/>
                    </a:ext>
                  </a:extLst>
                </a:gridCol>
                <a:gridCol w="2836775">
                  <a:extLst>
                    <a:ext uri="{9D8B030D-6E8A-4147-A177-3AD203B41FA5}">
                      <a16:colId xmlns:a16="http://schemas.microsoft.com/office/drawing/2014/main" val="661001857"/>
                    </a:ext>
                  </a:extLst>
                </a:gridCol>
                <a:gridCol w="2836775">
                  <a:extLst>
                    <a:ext uri="{9D8B030D-6E8A-4147-A177-3AD203B41FA5}">
                      <a16:colId xmlns:a16="http://schemas.microsoft.com/office/drawing/2014/main" val="1909446426"/>
                    </a:ext>
                  </a:extLst>
                </a:gridCol>
                <a:gridCol w="2836775">
                  <a:extLst>
                    <a:ext uri="{9D8B030D-6E8A-4147-A177-3AD203B41FA5}">
                      <a16:colId xmlns:a16="http://schemas.microsoft.com/office/drawing/2014/main" val="677043345"/>
                    </a:ext>
                  </a:extLst>
                </a:gridCol>
              </a:tblGrid>
              <a:tr h="419312">
                <a:tc>
                  <a:txBody>
                    <a:bodyPr/>
                    <a:lstStyle/>
                    <a:p>
                      <a:pPr lvl="0">
                        <a:buNone/>
                      </a:pPr>
                      <a:r>
                        <a:rPr lang="en-US" sz="1600" b="1" u="none" strike="noStrike" noProof="0" dirty="0">
                          <a:solidFill>
                            <a:schemeClr val="tx1"/>
                          </a:solidFill>
                        </a:rPr>
                        <a:t>Domain</a:t>
                      </a:r>
                      <a:endParaRPr lang="en-US" sz="1600" b="1" dirty="0">
                        <a:solidFill>
                          <a:schemeClr val="tx1"/>
                        </a:solidFill>
                      </a:endParaRPr>
                    </a:p>
                  </a:txBody>
                  <a:tcPr anchor="ctr"/>
                </a:tc>
                <a:tc>
                  <a:txBody>
                    <a:bodyPr/>
                    <a:lstStyle/>
                    <a:p>
                      <a:pPr lvl="0">
                        <a:buNone/>
                      </a:pPr>
                      <a:r>
                        <a:rPr lang="en-US" sz="1600" b="1" u="none" strike="noStrike" noProof="0" dirty="0">
                          <a:solidFill>
                            <a:schemeClr val="tx1"/>
                          </a:solidFill>
                        </a:rPr>
                        <a:t>Projects</a:t>
                      </a:r>
                      <a:endParaRPr lang="en-US" sz="1600" b="1" dirty="0">
                        <a:solidFill>
                          <a:schemeClr val="tx1"/>
                        </a:solidFill>
                      </a:endParaRPr>
                    </a:p>
                  </a:txBody>
                  <a:tcPr anchor="ctr"/>
                </a:tc>
                <a:tc>
                  <a:txBody>
                    <a:bodyPr/>
                    <a:lstStyle/>
                    <a:p>
                      <a:pPr lvl="0">
                        <a:buNone/>
                      </a:pPr>
                      <a:r>
                        <a:rPr lang="en-US" sz="1600" b="1" u="none" strike="noStrike" noProof="0">
                          <a:solidFill>
                            <a:schemeClr val="tx1"/>
                          </a:solidFill>
                        </a:rPr>
                        <a:t>Key Contributions</a:t>
                      </a:r>
                      <a:endParaRPr lang="en-US" sz="1600" b="1">
                        <a:solidFill>
                          <a:schemeClr val="tx1"/>
                        </a:solidFill>
                      </a:endParaRPr>
                    </a:p>
                  </a:txBody>
                  <a:tcPr anchor="ctr"/>
                </a:tc>
                <a:tc>
                  <a:txBody>
                    <a:bodyPr/>
                    <a:lstStyle/>
                    <a:p>
                      <a:pPr lvl="0">
                        <a:buNone/>
                      </a:pPr>
                      <a:r>
                        <a:rPr lang="en-US" sz="1600" b="1" u="none" strike="noStrike" noProof="0" dirty="0">
                          <a:solidFill>
                            <a:schemeClr val="tx1"/>
                          </a:solidFill>
                        </a:rPr>
                        <a:t>Status</a:t>
                      </a:r>
                      <a:endParaRPr lang="en-US" sz="1600" b="1" dirty="0">
                        <a:solidFill>
                          <a:schemeClr val="tx1"/>
                        </a:solidFill>
                      </a:endParaRPr>
                    </a:p>
                  </a:txBody>
                  <a:tcPr anchor="ctr"/>
                </a:tc>
                <a:extLst>
                  <a:ext uri="{0D108BD9-81ED-4DB2-BD59-A6C34878D82A}">
                    <a16:rowId xmlns:a16="http://schemas.microsoft.com/office/drawing/2014/main" val="176832153"/>
                  </a:ext>
                </a:extLst>
              </a:tr>
              <a:tr h="1721197">
                <a:tc>
                  <a:txBody>
                    <a:bodyPr/>
                    <a:lstStyle/>
                    <a:p>
                      <a:pPr lvl="0">
                        <a:buNone/>
                      </a:pPr>
                      <a:endParaRPr lang="en-US" sz="1400" dirty="0">
                        <a:solidFill>
                          <a:schemeClr val="tx1"/>
                        </a:solidFill>
                      </a:endParaRPr>
                    </a:p>
                    <a:p>
                      <a:r>
                        <a:rPr lang="en-IN" sz="1400" b="1" dirty="0">
                          <a:solidFill>
                            <a:srgbClr val="00FFB9"/>
                          </a:solidFill>
                          <a:ea typeface="+mn-lt"/>
                          <a:cs typeface="+mn-lt"/>
                        </a:rPr>
                        <a:t>RAG based AI Search service</a:t>
                      </a:r>
                      <a:endParaRPr lang="en-US" sz="1400" b="1" dirty="0">
                        <a:ea typeface="+mn-lt"/>
                        <a:cs typeface="+mn-lt"/>
                      </a:endParaRPr>
                    </a:p>
                  </a:txBody>
                  <a:tcPr anchor="ctr"/>
                </a:tc>
                <a:tc>
                  <a:txBody>
                    <a:bodyPr/>
                    <a:lstStyle/>
                    <a:p>
                      <a:pPr marL="285750" lvl="0" indent="-285750">
                        <a:buClr>
                          <a:srgbClr val="000000"/>
                        </a:buClr>
                        <a:buFont typeface="Arial,Sans-Serif"/>
                        <a:buChar char="•"/>
                      </a:pPr>
                      <a:r>
                        <a:rPr lang="en-IN" sz="1400" dirty="0">
                          <a:solidFill>
                            <a:schemeClr val="tx1"/>
                          </a:solidFill>
                        </a:rPr>
                        <a:t>Smart chunking strategy for  complex structured JSON docs.</a:t>
                      </a:r>
                      <a:endParaRPr lang="en-US" sz="1400" dirty="0">
                        <a:solidFill>
                          <a:schemeClr val="tx1"/>
                        </a:solidFill>
                      </a:endParaRPr>
                    </a:p>
                  </a:txBody>
                  <a:tcPr anchor="ctr"/>
                </a:tc>
                <a:tc>
                  <a:txBody>
                    <a:bodyPr/>
                    <a:lstStyle/>
                    <a:p>
                      <a:pPr marL="285750" lvl="0" indent="-285750">
                        <a:buFont typeface="Arial"/>
                        <a:buChar char="•"/>
                      </a:pPr>
                      <a:r>
                        <a:rPr lang="en-IN" sz="1400" dirty="0">
                          <a:solidFill>
                            <a:schemeClr val="tx1"/>
                          </a:solidFill>
                        </a:rPr>
                        <a:t>Indexing the data source using custom skillsets in Azure AI Search.</a:t>
                      </a:r>
                    </a:p>
                  </a:txBody>
                  <a:tcPr anchor="ctr"/>
                </a:tc>
                <a:tc>
                  <a:txBody>
                    <a:bodyPr/>
                    <a:lstStyle/>
                    <a:p>
                      <a:pPr lvl="0">
                        <a:buNone/>
                      </a:pPr>
                      <a:r>
                        <a:rPr lang="en-US" sz="1400" b="0" u="none" strike="noStrike" noProof="0" dirty="0">
                          <a:solidFill>
                            <a:schemeClr val="tx1"/>
                          </a:solidFill>
                        </a:rPr>
                        <a:t>In Production</a:t>
                      </a:r>
                      <a:endParaRPr lang="en-US" sz="1400" dirty="0">
                        <a:solidFill>
                          <a:schemeClr val="tx1"/>
                        </a:solidFill>
                      </a:endParaRPr>
                    </a:p>
                  </a:txBody>
                  <a:tcPr anchor="ctr"/>
                </a:tc>
                <a:extLst>
                  <a:ext uri="{0D108BD9-81ED-4DB2-BD59-A6C34878D82A}">
                    <a16:rowId xmlns:a16="http://schemas.microsoft.com/office/drawing/2014/main" val="1747722275"/>
                  </a:ext>
                </a:extLst>
              </a:tr>
              <a:tr h="1721197">
                <a:tc>
                  <a:txBody>
                    <a:bodyPr/>
                    <a:lstStyle/>
                    <a:p>
                      <a:pPr lvl="0">
                        <a:buNone/>
                      </a:pPr>
                      <a:r>
                        <a:rPr lang="en-US" sz="1400" b="1" dirty="0">
                          <a:solidFill>
                            <a:srgbClr val="00FFB9"/>
                          </a:solidFill>
                        </a:rPr>
                        <a:t>AI Agents for Simulation Workflow</a:t>
                      </a:r>
                    </a:p>
                  </a:txBody>
                  <a:tcPr anchor="ctr"/>
                </a:tc>
                <a:tc>
                  <a:txBody>
                    <a:bodyPr/>
                    <a:lstStyle/>
                    <a:p>
                      <a:pPr marL="285750" lvl="0" indent="-285750">
                        <a:buClr>
                          <a:srgbClr val="000000"/>
                        </a:buClr>
                        <a:buFont typeface="Arial,Sans-Serif"/>
                        <a:buChar char="•"/>
                      </a:pPr>
                      <a:r>
                        <a:rPr lang="en-US" sz="1400" dirty="0">
                          <a:solidFill>
                            <a:schemeClr val="tx1"/>
                          </a:solidFill>
                        </a:rPr>
                        <a:t>Document aware agent which can provide concise response and validate the workflow models. </a:t>
                      </a:r>
                    </a:p>
                  </a:txBody>
                  <a:tcPr anchor="ctr"/>
                </a:tc>
                <a:tc>
                  <a:txBody>
                    <a:bodyPr/>
                    <a:lstStyle/>
                    <a:p>
                      <a:pPr marL="285750" lvl="0" indent="-285750">
                        <a:buFont typeface="Arial"/>
                        <a:buChar char="•"/>
                      </a:pPr>
                      <a:r>
                        <a:rPr lang="en-IN" sz="1400" dirty="0">
                          <a:solidFill>
                            <a:schemeClr val="tx1"/>
                          </a:solidFill>
                        </a:rPr>
                        <a:t>Building RAG documentation.</a:t>
                      </a:r>
                    </a:p>
                    <a:p>
                      <a:pPr marL="285750" lvl="0" indent="-285750">
                        <a:buFont typeface="Arial"/>
                        <a:buChar char="•"/>
                      </a:pPr>
                      <a:r>
                        <a:rPr lang="en-IN" sz="1400" dirty="0">
                          <a:solidFill>
                            <a:schemeClr val="tx1"/>
                          </a:solidFill>
                        </a:rPr>
                        <a:t>Image + Text awareness </a:t>
                      </a:r>
                    </a:p>
                    <a:p>
                      <a:pPr marL="285750" lvl="0" indent="-285750">
                        <a:buFont typeface="Arial"/>
                        <a:buChar char="•"/>
                      </a:pPr>
                      <a:r>
                        <a:rPr lang="en-IN" sz="1400" dirty="0">
                          <a:solidFill>
                            <a:schemeClr val="tx1"/>
                          </a:solidFill>
                        </a:rPr>
                        <a:t>Intent classification</a:t>
                      </a:r>
                    </a:p>
                    <a:p>
                      <a:pPr marL="285750" lvl="0" indent="-285750">
                        <a:buFont typeface="Arial"/>
                        <a:buChar char="•"/>
                      </a:pPr>
                      <a:r>
                        <a:rPr lang="en-IN" sz="1400" dirty="0">
                          <a:solidFill>
                            <a:schemeClr val="tx1"/>
                          </a:solidFill>
                        </a:rPr>
                        <a:t>Query rewriting</a:t>
                      </a:r>
                    </a:p>
                    <a:p>
                      <a:pPr marL="285750" lvl="0" indent="-285750">
                        <a:buFont typeface="Arial"/>
                        <a:buChar char="•"/>
                      </a:pPr>
                      <a:r>
                        <a:rPr lang="en-IN" sz="1400" dirty="0">
                          <a:solidFill>
                            <a:schemeClr val="tx1"/>
                          </a:solidFill>
                        </a:rPr>
                        <a:t>etc</a:t>
                      </a:r>
                    </a:p>
                  </a:txBody>
                  <a:tcPr anchor="ctr"/>
                </a:tc>
                <a:tc>
                  <a:txBody>
                    <a:bodyPr/>
                    <a:lstStyle/>
                    <a:p>
                      <a:pPr lvl="0">
                        <a:buNone/>
                      </a:pPr>
                      <a:r>
                        <a:rPr lang="en-US" sz="1400" dirty="0">
                          <a:solidFill>
                            <a:schemeClr val="tx1"/>
                          </a:solidFill>
                        </a:rPr>
                        <a:t>In Development</a:t>
                      </a:r>
                    </a:p>
                  </a:txBody>
                  <a:tcPr anchor="ctr"/>
                </a:tc>
                <a:extLst>
                  <a:ext uri="{0D108BD9-81ED-4DB2-BD59-A6C34878D82A}">
                    <a16:rowId xmlns:a16="http://schemas.microsoft.com/office/drawing/2014/main" val="701238248"/>
                  </a:ext>
                </a:extLst>
              </a:tr>
            </a:tbl>
          </a:graphicData>
        </a:graphic>
      </p:graphicFrame>
      <p:sp>
        <p:nvSpPr>
          <p:cNvPr id="8" name="Rectangle 7">
            <a:extLst>
              <a:ext uri="{FF2B5EF4-FFF2-40B4-BE49-F238E27FC236}">
                <a16:creationId xmlns:a16="http://schemas.microsoft.com/office/drawing/2014/main" id="{F0EB9409-9A39-B2CD-1BE4-8B4794006261}"/>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280198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D3B9C-C446-6852-6E36-74747286C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A3ACD-960F-1A8F-1F86-6724A30B35B8}"/>
              </a:ext>
            </a:extLst>
          </p:cNvPr>
          <p:cNvSpPr>
            <a:spLocks noGrp="1"/>
          </p:cNvSpPr>
          <p:nvPr>
            <p:ph type="title"/>
          </p:nvPr>
        </p:nvSpPr>
        <p:spPr>
          <a:xfrm>
            <a:off x="442008" y="216431"/>
            <a:ext cx="9763734" cy="576000"/>
          </a:xfrm>
        </p:spPr>
        <p:txBody>
          <a:bodyPr/>
          <a:lstStyle/>
          <a:p>
            <a:pPr lvl="0"/>
            <a:r>
              <a:rPr lang="en-US" sz="2800" dirty="0"/>
              <a:t>RAG Based Azure AI Search Service</a:t>
            </a:r>
          </a:p>
        </p:txBody>
      </p:sp>
      <p:sp>
        <p:nvSpPr>
          <p:cNvPr id="3" name="Footer Placeholder 2">
            <a:extLst>
              <a:ext uri="{FF2B5EF4-FFF2-40B4-BE49-F238E27FC236}">
                <a16:creationId xmlns:a16="http://schemas.microsoft.com/office/drawing/2014/main" id="{BBB4DCBD-2950-C745-556D-BD2948240171}"/>
              </a:ext>
            </a:extLst>
          </p:cNvPr>
          <p:cNvSpPr>
            <a:spLocks noGrp="1"/>
          </p:cNvSpPr>
          <p:nvPr>
            <p:ph type="ftr" sz="quarter" idx="10"/>
          </p:nvPr>
        </p:nvSpPr>
        <p:spPr/>
        <p:txBody>
          <a:bodyPr/>
          <a:lstStyle/>
          <a:p>
            <a:pPr>
              <a:lnSpc>
                <a:spcPct val="100000"/>
              </a:lnSpc>
            </a:pPr>
            <a:r>
              <a:rPr lang="en-US" dirty="0"/>
              <a:t>Restricted | © Siemens 2026 | Siemens Digital Industries Software </a:t>
            </a:r>
          </a:p>
        </p:txBody>
      </p:sp>
      <p:sp>
        <p:nvSpPr>
          <p:cNvPr id="4" name="Slide Number Placeholder 3">
            <a:extLst>
              <a:ext uri="{FF2B5EF4-FFF2-40B4-BE49-F238E27FC236}">
                <a16:creationId xmlns:a16="http://schemas.microsoft.com/office/drawing/2014/main" id="{5A075D69-C126-406F-B370-3A202142CA24}"/>
              </a:ext>
            </a:extLst>
          </p:cNvPr>
          <p:cNvSpPr>
            <a:spLocks noGrp="1"/>
          </p:cNvSpPr>
          <p:nvPr>
            <p:ph type="sldNum" sz="quarter" idx="11"/>
          </p:nvPr>
        </p:nvSpPr>
        <p:spPr>
          <a:xfrm>
            <a:off x="277298" y="6321097"/>
            <a:ext cx="781864" cy="536903"/>
          </a:xfrm>
        </p:spPr>
        <p:txBody>
          <a:bodyPr/>
          <a:lstStyle/>
          <a:p>
            <a:r>
              <a:rPr lang="en-US"/>
              <a:t>Page </a:t>
            </a:r>
            <a:fld id="{15EBE321-CBB1-4E91-BD14-37C8D44326FB}" type="slidenum">
              <a:rPr lang="en-US" smtClean="0"/>
              <a:pPr/>
              <a:t>5</a:t>
            </a:fld>
            <a:endParaRPr lang="en-US"/>
          </a:p>
        </p:txBody>
      </p:sp>
      <p:sp>
        <p:nvSpPr>
          <p:cNvPr id="6" name="Rectangle 5">
            <a:extLst>
              <a:ext uri="{FF2B5EF4-FFF2-40B4-BE49-F238E27FC236}">
                <a16:creationId xmlns:a16="http://schemas.microsoft.com/office/drawing/2014/main" id="{F5E7C024-8540-8EE7-E0A4-3AFA388C3643}"/>
              </a:ext>
            </a:extLst>
          </p:cNvPr>
          <p:cNvSpPr/>
          <p:nvPr/>
        </p:nvSpPr>
        <p:spPr>
          <a:xfrm>
            <a:off x="279724" y="867862"/>
            <a:ext cx="5212570" cy="161626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90000"/>
              </a:lnSpc>
              <a:spcBef>
                <a:spcPts val="1000"/>
              </a:spcBef>
            </a:pPr>
            <a:r>
              <a:rPr lang="en-US" sz="1400" b="1" dirty="0">
                <a:solidFill>
                  <a:schemeClr val="tx1"/>
                </a:solidFill>
                <a:cs typeface="Arial"/>
              </a:rPr>
              <a:t>Project Description</a:t>
            </a:r>
          </a:p>
          <a:p>
            <a:pPr marL="285750" indent="-285750">
              <a:buFont typeface="Arial,Sans-Serif"/>
              <a:buChar char="•"/>
            </a:pPr>
            <a:r>
              <a:rPr lang="en-US" sz="1400" dirty="0">
                <a:solidFill>
                  <a:schemeClr val="tx1"/>
                </a:solidFill>
                <a:ea typeface="+mn-lt"/>
                <a:cs typeface="+mn-lt"/>
              </a:rPr>
              <a:t>Development of an AI-powered search tool to find relevant JSON chunks using hybrid (keyword + semantic) search technique.</a:t>
            </a:r>
          </a:p>
          <a:p>
            <a:pPr marL="285750" indent="-285750">
              <a:buFont typeface="Arial,Sans-Serif"/>
              <a:buChar char="•"/>
            </a:pPr>
            <a:r>
              <a:rPr lang="en-US" sz="1400" dirty="0">
                <a:solidFill>
                  <a:schemeClr val="tx1"/>
                </a:solidFill>
                <a:ea typeface="+mn-lt"/>
                <a:cs typeface="+mn-lt"/>
              </a:rPr>
              <a:t>Addressed challenge:</a:t>
            </a:r>
          </a:p>
          <a:p>
            <a:pPr marL="742950" lvl="1" indent="-285750">
              <a:buFont typeface="Arial,Sans-Serif"/>
              <a:buChar char="•"/>
            </a:pPr>
            <a:r>
              <a:rPr lang="en-US" sz="1400" dirty="0">
                <a:solidFill>
                  <a:schemeClr val="tx1"/>
                </a:solidFill>
                <a:ea typeface="+mn-lt"/>
                <a:cs typeface="+mn-lt"/>
              </a:rPr>
              <a:t>Providing a Reliable Search service for RAG based tool calling agent which provides accurate results.</a:t>
            </a:r>
          </a:p>
          <a:p>
            <a:pPr lvl="1"/>
            <a:endParaRPr lang="en-US" sz="1400" dirty="0">
              <a:solidFill>
                <a:schemeClr val="tx1"/>
              </a:solidFill>
              <a:cs typeface="Arial"/>
            </a:endParaRPr>
          </a:p>
        </p:txBody>
      </p:sp>
      <p:sp>
        <p:nvSpPr>
          <p:cNvPr id="12" name="TextBox 11">
            <a:extLst>
              <a:ext uri="{FF2B5EF4-FFF2-40B4-BE49-F238E27FC236}">
                <a16:creationId xmlns:a16="http://schemas.microsoft.com/office/drawing/2014/main" id="{E1C1B379-6C79-FA5D-01E4-869224989109}"/>
              </a:ext>
            </a:extLst>
          </p:cNvPr>
          <p:cNvSpPr txBox="1"/>
          <p:nvPr/>
        </p:nvSpPr>
        <p:spPr>
          <a:xfrm>
            <a:off x="276579" y="2658695"/>
            <a:ext cx="5212570" cy="2263434"/>
          </a:xfrm>
          <a:prstGeom prst="rect">
            <a:avLst/>
          </a:prstGeom>
          <a:solidFill>
            <a:srgbClr val="005F6E"/>
          </a:solidFill>
        </p:spPr>
        <p:txBody>
          <a:bodyPr wrap="square" lIns="71963" tIns="0" rIns="0" bIns="107944" rtlCol="0" anchor="t">
            <a:spAutoFit/>
          </a:bodyPr>
          <a:lstStyle/>
          <a:p>
            <a:pPr marL="0" lvl="1" indent="0" algn="ctr">
              <a:spcBef>
                <a:spcPts val="0"/>
              </a:spcBef>
              <a:buNone/>
            </a:pPr>
            <a:r>
              <a:rPr lang="en-IN" sz="1400" b="1" dirty="0">
                <a:solidFill>
                  <a:srgbClr val="FFFFFF"/>
                </a:solidFill>
                <a:latin typeface="+mj-lt"/>
                <a:cs typeface="Arial"/>
              </a:rPr>
              <a:t>Scope</a:t>
            </a:r>
          </a:p>
          <a:p>
            <a:pPr marL="285750" lvl="1" indent="-285750">
              <a:spcBef>
                <a:spcPts val="0"/>
              </a:spcBef>
              <a:buFont typeface="Arial" panose="020B0604020202020204" pitchFamily="34" charset="0"/>
              <a:buChar char="•"/>
            </a:pPr>
            <a:r>
              <a:rPr lang="en-US" sz="1400" dirty="0"/>
              <a:t>Designed and implemented a </a:t>
            </a:r>
            <a:r>
              <a:rPr lang="en-US" sz="1400" b="1" dirty="0"/>
              <a:t>RAG-compatible enterprise search layer</a:t>
            </a:r>
            <a:r>
              <a:rPr lang="en-US" sz="1400" dirty="0"/>
              <a:t> using </a:t>
            </a:r>
            <a:r>
              <a:rPr lang="en-US" sz="1400" b="1" dirty="0"/>
              <a:t>Azure AI Search</a:t>
            </a:r>
            <a:r>
              <a:rPr lang="en-US" sz="1400" dirty="0"/>
              <a:t>.</a:t>
            </a:r>
          </a:p>
          <a:p>
            <a:pPr marL="285750" lvl="1" indent="-285750">
              <a:spcBef>
                <a:spcPts val="0"/>
              </a:spcBef>
              <a:buFont typeface="Arial" panose="020B0604020202020204" pitchFamily="34" charset="0"/>
              <a:buChar char="•"/>
            </a:pPr>
            <a:r>
              <a:rPr lang="en-US" sz="1400" dirty="0"/>
              <a:t>Implemented </a:t>
            </a:r>
            <a:r>
              <a:rPr lang="en-US" sz="1400" b="1" dirty="0"/>
              <a:t>semantic + keyword hybrid search</a:t>
            </a:r>
            <a:r>
              <a:rPr lang="en-US" sz="1400" dirty="0"/>
              <a:t> for improved retrieval accuracy.</a:t>
            </a:r>
          </a:p>
          <a:p>
            <a:pPr marL="285750" lvl="1" indent="-285750">
              <a:spcBef>
                <a:spcPts val="0"/>
              </a:spcBef>
              <a:buFont typeface="Arial" panose="020B0604020202020204" pitchFamily="34" charset="0"/>
              <a:buChar char="•"/>
            </a:pPr>
            <a:r>
              <a:rPr lang="en-US" sz="1400" dirty="0"/>
              <a:t>Developed </a:t>
            </a:r>
            <a:r>
              <a:rPr lang="en-US" sz="1400" b="1" dirty="0"/>
              <a:t>custom skillset pipeline</a:t>
            </a:r>
            <a:r>
              <a:rPr lang="en-US" sz="1400" dirty="0"/>
              <a:t> to process and chunk structured JSON documents.</a:t>
            </a:r>
          </a:p>
          <a:p>
            <a:pPr marL="285750" lvl="1" indent="-285750">
              <a:spcBef>
                <a:spcPts val="0"/>
              </a:spcBef>
              <a:buFont typeface="Arial" panose="020B0604020202020204" pitchFamily="34" charset="0"/>
              <a:buChar char="•"/>
            </a:pPr>
            <a:r>
              <a:rPr lang="en-US" sz="1400" dirty="0"/>
              <a:t>Integrated the search service with an </a:t>
            </a:r>
            <a:r>
              <a:rPr lang="en-US" sz="1400" b="1" dirty="0"/>
              <a:t>AI Agent for tool-based retrieval and response generation</a:t>
            </a:r>
            <a:endParaRPr lang="en-IN" sz="1400" b="1" dirty="0">
              <a:solidFill>
                <a:srgbClr val="FFFFFF"/>
              </a:solidFill>
              <a:latin typeface="+mj-lt"/>
              <a:cs typeface="Arial"/>
            </a:endParaRPr>
          </a:p>
          <a:p>
            <a:pPr marL="0" lvl="1" indent="0" algn="ctr">
              <a:spcBef>
                <a:spcPts val="0"/>
              </a:spcBef>
              <a:buNone/>
            </a:pPr>
            <a:endParaRPr lang="en-US" sz="1400" dirty="0">
              <a:cs typeface="Arial"/>
            </a:endParaRPr>
          </a:p>
        </p:txBody>
      </p:sp>
      <p:sp>
        <p:nvSpPr>
          <p:cNvPr id="11" name="TextBox 10">
            <a:extLst>
              <a:ext uri="{FF2B5EF4-FFF2-40B4-BE49-F238E27FC236}">
                <a16:creationId xmlns:a16="http://schemas.microsoft.com/office/drawing/2014/main" id="{34A8B4D0-6A1F-B292-9741-A63D65A7A744}"/>
              </a:ext>
            </a:extLst>
          </p:cNvPr>
          <p:cNvSpPr txBox="1"/>
          <p:nvPr/>
        </p:nvSpPr>
        <p:spPr>
          <a:xfrm>
            <a:off x="5813591" y="892387"/>
            <a:ext cx="6182389" cy="970773"/>
          </a:xfrm>
          <a:prstGeom prst="rect">
            <a:avLst/>
          </a:prstGeom>
          <a:solidFill>
            <a:srgbClr val="005F6E"/>
          </a:solidFill>
        </p:spPr>
        <p:txBody>
          <a:bodyPr wrap="square" lIns="71963" tIns="0" rIns="0" bIns="107944" rtlCol="0" anchor="t">
            <a:spAutoFit/>
          </a:bodyPr>
          <a:lstStyle/>
          <a:p>
            <a:pPr marL="0" lvl="1" algn="ctr"/>
            <a:r>
              <a:rPr lang="en-IN" sz="1400" b="1" dirty="0">
                <a:ea typeface="+mn-lt"/>
                <a:cs typeface="+mn-lt"/>
              </a:rPr>
              <a:t> My role and Contributions: </a:t>
            </a:r>
          </a:p>
          <a:p>
            <a:pPr marL="285750" indent="-285750">
              <a:buFont typeface="Arial"/>
              <a:buChar char="•"/>
            </a:pPr>
            <a:r>
              <a:rPr lang="en-US" sz="1400" dirty="0">
                <a:cs typeface="Arial"/>
              </a:rPr>
              <a:t>Research and development of POC</a:t>
            </a:r>
          </a:p>
          <a:p>
            <a:pPr marL="285750" indent="-285750">
              <a:buFont typeface="Arial"/>
              <a:buChar char="•"/>
            </a:pPr>
            <a:r>
              <a:rPr lang="en-US" sz="1400" dirty="0">
                <a:cs typeface="Arial"/>
              </a:rPr>
              <a:t>Iterative Testing with QA engineer.</a:t>
            </a:r>
          </a:p>
          <a:p>
            <a:endParaRPr lang="en-US" sz="1400" dirty="0">
              <a:cs typeface="Arial"/>
            </a:endParaRPr>
          </a:p>
        </p:txBody>
      </p:sp>
      <p:sp>
        <p:nvSpPr>
          <p:cNvPr id="7" name="Rectangle 6">
            <a:extLst>
              <a:ext uri="{FF2B5EF4-FFF2-40B4-BE49-F238E27FC236}">
                <a16:creationId xmlns:a16="http://schemas.microsoft.com/office/drawing/2014/main" id="{282421DC-33E7-A38A-7195-B23584352E1D}"/>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sp>
        <p:nvSpPr>
          <p:cNvPr id="10" name="TextBox 9">
            <a:extLst>
              <a:ext uri="{FF2B5EF4-FFF2-40B4-BE49-F238E27FC236}">
                <a16:creationId xmlns:a16="http://schemas.microsoft.com/office/drawing/2014/main" id="{DE1EBF48-1E29-039B-CF4F-940F494816BB}"/>
              </a:ext>
            </a:extLst>
          </p:cNvPr>
          <p:cNvSpPr txBox="1"/>
          <p:nvPr/>
        </p:nvSpPr>
        <p:spPr>
          <a:xfrm>
            <a:off x="8468382" y="1966229"/>
            <a:ext cx="1737360" cy="276999"/>
          </a:xfrm>
          <a:prstGeom prst="rect">
            <a:avLst/>
          </a:prstGeom>
          <a:noFill/>
        </p:spPr>
        <p:txBody>
          <a:bodyPr wrap="square" lIns="0" tIns="0" rIns="0" bIns="0" rtlCol="0">
            <a:spAutoFit/>
          </a:bodyPr>
          <a:lstStyle/>
          <a:p>
            <a:pPr algn="l"/>
            <a:r>
              <a:rPr lang="en-IN" b="1" dirty="0">
                <a:solidFill>
                  <a:srgbClr val="F7C600"/>
                </a:solidFill>
                <a:latin typeface="+mj-lt"/>
              </a:rPr>
              <a:t>Architecture</a:t>
            </a:r>
          </a:p>
        </p:txBody>
      </p:sp>
      <p:pic>
        <p:nvPicPr>
          <p:cNvPr id="16" name="Picture 15">
            <a:extLst>
              <a:ext uri="{FF2B5EF4-FFF2-40B4-BE49-F238E27FC236}">
                <a16:creationId xmlns:a16="http://schemas.microsoft.com/office/drawing/2014/main" id="{446DF931-E4CC-6522-ADF6-2885F4900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7362" y="2424910"/>
            <a:ext cx="2227255" cy="4385952"/>
          </a:xfrm>
          <a:prstGeom prst="rect">
            <a:avLst/>
          </a:prstGeom>
        </p:spPr>
      </p:pic>
      <p:sp>
        <p:nvSpPr>
          <p:cNvPr id="17" name="TextBox 16">
            <a:extLst>
              <a:ext uri="{FF2B5EF4-FFF2-40B4-BE49-F238E27FC236}">
                <a16:creationId xmlns:a16="http://schemas.microsoft.com/office/drawing/2014/main" id="{E9D0EB05-2CBA-C305-AE19-DD4E20ECA112}"/>
              </a:ext>
            </a:extLst>
          </p:cNvPr>
          <p:cNvSpPr txBox="1"/>
          <p:nvPr/>
        </p:nvSpPr>
        <p:spPr>
          <a:xfrm>
            <a:off x="276579" y="5078998"/>
            <a:ext cx="6106051" cy="1340104"/>
          </a:xfrm>
          <a:prstGeom prst="rect">
            <a:avLst/>
          </a:prstGeom>
          <a:solidFill>
            <a:srgbClr val="005F6E"/>
          </a:solidFill>
        </p:spPr>
        <p:txBody>
          <a:bodyPr wrap="square" lIns="71963" tIns="0" rIns="0" bIns="107944" rtlCol="0" anchor="t">
            <a:spAutoFit/>
          </a:bodyPr>
          <a:lstStyle/>
          <a:p>
            <a:pPr lvl="1" algn="ctr">
              <a:lnSpc>
                <a:spcPct val="150000"/>
              </a:lnSpc>
              <a:spcBef>
                <a:spcPts val="0"/>
              </a:spcBef>
            </a:pPr>
            <a:r>
              <a:rPr lang="en-IN" sz="1600" b="1" dirty="0">
                <a:solidFill>
                  <a:srgbClr val="FFFFFF"/>
                </a:solidFill>
                <a:latin typeface="+mj-lt"/>
                <a:cs typeface="Arial"/>
              </a:rPr>
              <a:t>Solution</a:t>
            </a:r>
          </a:p>
          <a:p>
            <a:pPr marL="285750" indent="-285750">
              <a:buFont typeface="Arial"/>
              <a:buChar char="•"/>
            </a:pPr>
            <a:r>
              <a:rPr lang="en-US" sz="1400" dirty="0">
                <a:latin typeface="+mj-lt"/>
                <a:ea typeface="+mn-lt"/>
                <a:cs typeface="Arial"/>
              </a:rPr>
              <a:t>Developed Azure AI Search Skillset which a two main </a:t>
            </a:r>
            <a:r>
              <a:rPr lang="en-US" sz="1400" dirty="0" err="1">
                <a:latin typeface="+mj-lt"/>
                <a:ea typeface="+mn-lt"/>
                <a:cs typeface="Arial"/>
              </a:rPr>
              <a:t>submodels</a:t>
            </a:r>
            <a:r>
              <a:rPr lang="en-US" sz="1400" dirty="0">
                <a:latin typeface="+mj-lt"/>
                <a:ea typeface="+mn-lt"/>
                <a:cs typeface="Arial"/>
              </a:rPr>
              <a:t> in the hierarchy.</a:t>
            </a:r>
          </a:p>
          <a:p>
            <a:pPr marL="285750" indent="-285750">
              <a:buFont typeface="Arial"/>
              <a:buChar char="•"/>
            </a:pPr>
            <a:r>
              <a:rPr lang="en-US" sz="1400" dirty="0">
                <a:latin typeface="+mj-lt"/>
                <a:ea typeface="+mn-lt"/>
                <a:cs typeface="Arial"/>
              </a:rPr>
              <a:t>Used the chunking separately on both and isolated the chunks in two categories. </a:t>
            </a:r>
          </a:p>
        </p:txBody>
      </p:sp>
      <p:sp>
        <p:nvSpPr>
          <p:cNvPr id="18" name="TextBox 17">
            <a:extLst>
              <a:ext uri="{FF2B5EF4-FFF2-40B4-BE49-F238E27FC236}">
                <a16:creationId xmlns:a16="http://schemas.microsoft.com/office/drawing/2014/main" id="{A2654C21-10C7-6893-D1CA-6BD78C66EB88}"/>
              </a:ext>
            </a:extLst>
          </p:cNvPr>
          <p:cNvSpPr txBox="1"/>
          <p:nvPr/>
        </p:nvSpPr>
        <p:spPr>
          <a:xfrm>
            <a:off x="5667160" y="2130225"/>
            <a:ext cx="2386949" cy="1375159"/>
          </a:xfrm>
          <a:prstGeom prst="rect">
            <a:avLst/>
          </a:prstGeom>
          <a:solidFill>
            <a:srgbClr val="006C50"/>
          </a:solidFill>
        </p:spPr>
        <p:txBody>
          <a:bodyPr wrap="square" lIns="107943" tIns="35980" rIns="0" bIns="0" rtlCol="0" anchor="t">
            <a:spAutoFit/>
          </a:bodyPr>
          <a:lstStyle/>
          <a:p>
            <a:pPr algn="ctr">
              <a:lnSpc>
                <a:spcPct val="150000"/>
              </a:lnSpc>
              <a:spcBef>
                <a:spcPts val="1000"/>
              </a:spcBef>
            </a:pPr>
            <a:r>
              <a:rPr lang="en-US" sz="1400" b="1" dirty="0">
                <a:solidFill>
                  <a:srgbClr val="FFFFFF"/>
                </a:solidFill>
                <a:latin typeface="+mj-lt"/>
                <a:cs typeface="Arial"/>
              </a:rPr>
              <a:t>Outcome</a:t>
            </a:r>
            <a:endParaRPr lang="en-US" dirty="0">
              <a:latin typeface="+mj-lt"/>
              <a:cs typeface="Arial"/>
            </a:endParaRPr>
          </a:p>
          <a:p>
            <a:pPr marL="171450" lvl="1" indent="-171450">
              <a:buFont typeface="Arial"/>
              <a:buChar char="•"/>
            </a:pPr>
            <a:r>
              <a:rPr lang="en-US" sz="1200" b="1" dirty="0">
                <a:solidFill>
                  <a:srgbClr val="FFFFFF"/>
                </a:solidFill>
                <a:latin typeface="+mj-lt"/>
                <a:ea typeface="+mn-lt"/>
                <a:cs typeface="+mn-lt"/>
              </a:rPr>
              <a:t>Time Saved: Search service was able to filter out chunks based on the subdomain user wants to search in. </a:t>
            </a:r>
          </a:p>
          <a:p>
            <a:pPr marL="171450" lvl="1" indent="-171450">
              <a:buFont typeface="Arial"/>
              <a:buChar char="•"/>
            </a:pPr>
            <a:endParaRPr lang="en-US" dirty="0">
              <a:solidFill>
                <a:srgbClr val="000000"/>
              </a:solidFill>
              <a:latin typeface="+mj-lt"/>
              <a:ea typeface="+mn-lt"/>
              <a:cs typeface="Arial"/>
            </a:endParaRPr>
          </a:p>
        </p:txBody>
      </p:sp>
    </p:spTree>
    <p:extLst>
      <p:ext uri="{BB962C8B-B14F-4D97-AF65-F5344CB8AC3E}">
        <p14:creationId xmlns:p14="http://schemas.microsoft.com/office/powerpoint/2010/main" val="320571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8245-6684-4488-51E4-14F0A10BCC5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A85E932-8897-1723-03C8-4CBCB8DDAFBE}"/>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A0E513BE-048A-8522-D85A-44852A60B044}"/>
              </a:ext>
            </a:extLst>
          </p:cNvPr>
          <p:cNvSpPr>
            <a:spLocks noGrp="1"/>
          </p:cNvSpPr>
          <p:nvPr>
            <p:ph type="sldNum" sz="quarter" idx="11"/>
          </p:nvPr>
        </p:nvSpPr>
        <p:spPr/>
        <p:txBody>
          <a:bodyPr/>
          <a:lstStyle/>
          <a:p>
            <a:r>
              <a:rPr lang="en-US"/>
              <a:t>Page </a:t>
            </a:r>
            <a:fld id="{15EBE321-CBB1-4E91-BD14-37C8D44326FB}" type="slidenum">
              <a:rPr lang="en-US" smtClean="0"/>
              <a:pPr/>
              <a:t>6</a:t>
            </a:fld>
            <a:endParaRPr lang="en-US"/>
          </a:p>
        </p:txBody>
      </p:sp>
      <p:sp>
        <p:nvSpPr>
          <p:cNvPr id="6" name="Title 5">
            <a:extLst>
              <a:ext uri="{FF2B5EF4-FFF2-40B4-BE49-F238E27FC236}">
                <a16:creationId xmlns:a16="http://schemas.microsoft.com/office/drawing/2014/main" id="{E96F2647-4C60-5CBA-154B-674934287CE2}"/>
              </a:ext>
            </a:extLst>
          </p:cNvPr>
          <p:cNvSpPr>
            <a:spLocks noGrp="1"/>
          </p:cNvSpPr>
          <p:nvPr>
            <p:ph type="title"/>
          </p:nvPr>
        </p:nvSpPr>
        <p:spPr/>
        <p:txBody>
          <a:bodyPr/>
          <a:lstStyle/>
          <a:p>
            <a:r>
              <a:rPr lang="en-IN" sz="2800" dirty="0"/>
              <a:t>Sample JSON: </a:t>
            </a:r>
          </a:p>
        </p:txBody>
      </p:sp>
      <p:pic>
        <p:nvPicPr>
          <p:cNvPr id="8" name="Picture 7">
            <a:extLst>
              <a:ext uri="{FF2B5EF4-FFF2-40B4-BE49-F238E27FC236}">
                <a16:creationId xmlns:a16="http://schemas.microsoft.com/office/drawing/2014/main" id="{7FBD372E-2901-AF44-25DA-F9ADE8418BD0}"/>
              </a:ext>
            </a:extLst>
          </p:cNvPr>
          <p:cNvPicPr>
            <a:picLocks noChangeAspect="1"/>
          </p:cNvPicPr>
          <p:nvPr/>
        </p:nvPicPr>
        <p:blipFill>
          <a:blip r:embed="rId2"/>
          <a:stretch>
            <a:fillRect/>
          </a:stretch>
        </p:blipFill>
        <p:spPr>
          <a:xfrm>
            <a:off x="1543050" y="1309687"/>
            <a:ext cx="9105900" cy="4238625"/>
          </a:xfrm>
          <a:prstGeom prst="rect">
            <a:avLst/>
          </a:prstGeom>
        </p:spPr>
      </p:pic>
      <p:sp>
        <p:nvSpPr>
          <p:cNvPr id="9" name="Rectangle 8">
            <a:extLst>
              <a:ext uri="{FF2B5EF4-FFF2-40B4-BE49-F238E27FC236}">
                <a16:creationId xmlns:a16="http://schemas.microsoft.com/office/drawing/2014/main" id="{9F00F9A5-F14B-31C8-4401-B51ABFBF419D}"/>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E6239007-6AE1-81A6-B1B8-03D0FFF8C6B9}"/>
              </a:ext>
            </a:extLst>
          </p:cNvPr>
          <p:cNvSpPr/>
          <p:nvPr/>
        </p:nvSpPr>
        <p:spPr>
          <a:xfrm>
            <a:off x="1399032" y="1835576"/>
            <a:ext cx="9390888" cy="1664208"/>
          </a:xfrm>
          <a:prstGeom prst="rect">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IN" dirty="0"/>
          </a:p>
        </p:txBody>
      </p:sp>
      <p:sp>
        <p:nvSpPr>
          <p:cNvPr id="12" name="Rectangle 11">
            <a:extLst>
              <a:ext uri="{FF2B5EF4-FFF2-40B4-BE49-F238E27FC236}">
                <a16:creationId xmlns:a16="http://schemas.microsoft.com/office/drawing/2014/main" id="{CEA9FCB1-29F5-1C84-F959-8402E66E6C65}"/>
              </a:ext>
            </a:extLst>
          </p:cNvPr>
          <p:cNvSpPr/>
          <p:nvPr/>
        </p:nvSpPr>
        <p:spPr>
          <a:xfrm>
            <a:off x="1399032" y="3691944"/>
            <a:ext cx="9390888" cy="1664208"/>
          </a:xfrm>
          <a:prstGeom prst="rect">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IN" dirty="0"/>
          </a:p>
        </p:txBody>
      </p:sp>
    </p:spTree>
    <p:extLst>
      <p:ext uri="{BB962C8B-B14F-4D97-AF65-F5344CB8AC3E}">
        <p14:creationId xmlns:p14="http://schemas.microsoft.com/office/powerpoint/2010/main" val="1872847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9B921-88B8-4B62-FE1D-79FE1BD0B004}"/>
            </a:ext>
          </a:extLst>
        </p:cNvPr>
        <p:cNvGrpSpPr/>
        <p:nvPr/>
      </p:nvGrpSpPr>
      <p:grpSpPr>
        <a:xfrm>
          <a:off x="0" y="0"/>
          <a:ext cx="0" cy="0"/>
          <a:chOff x="0" y="0"/>
          <a:chExt cx="0" cy="0"/>
        </a:xfrm>
      </p:grpSpPr>
      <p:sp>
        <p:nvSpPr>
          <p:cNvPr id="100" name="Freeform 100">
            <a:extLst>
              <a:ext uri="{FF2B5EF4-FFF2-40B4-BE49-F238E27FC236}">
                <a16:creationId xmlns:a16="http://schemas.microsoft.com/office/drawing/2014/main" id="{14FFD4A4-0E10-91B8-0067-C51D33BB874A}"/>
              </a:ext>
            </a:extLst>
          </p:cNvPr>
          <p:cNvSpPr/>
          <p:nvPr/>
        </p:nvSpPr>
        <p:spPr>
          <a:xfrm>
            <a:off x="-21345" y="9236"/>
            <a:ext cx="12192000" cy="6858000"/>
          </a:xfrm>
          <a:custGeom>
            <a:avLst/>
            <a:gdLst/>
            <a:ahLst/>
            <a:cxnLst/>
            <a:rect l="0" t="0" r="0" b="0"/>
            <a:pathLst>
              <a:path w="12192000" h="6858000">
                <a:moveTo>
                  <a:pt x="0" y="6858000"/>
                </a:moveTo>
                <a:lnTo>
                  <a:pt x="12192000" y="6858000"/>
                </a:lnTo>
                <a:lnTo>
                  <a:pt x="12192000" y="0"/>
                </a:lnTo>
                <a:lnTo>
                  <a:pt x="0" y="0"/>
                </a:lnTo>
                <a:lnTo>
                  <a:pt x="0" y="6858000"/>
                </a:lnTo>
                <a:close/>
              </a:path>
            </a:pathLst>
          </a:custGeom>
          <a:solidFill>
            <a:srgbClr val="000028">
              <a:alpha val="10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latin typeface="+mj-lt"/>
            </a:endParaRPr>
          </a:p>
        </p:txBody>
      </p:sp>
      <p:sp>
        <p:nvSpPr>
          <p:cNvPr id="108" name="Freeform 108">
            <a:extLst>
              <a:ext uri="{FF2B5EF4-FFF2-40B4-BE49-F238E27FC236}">
                <a16:creationId xmlns:a16="http://schemas.microsoft.com/office/drawing/2014/main" id="{E6E5A959-51C5-0BE2-4F58-B1565391429C}"/>
              </a:ext>
            </a:extLst>
          </p:cNvPr>
          <p:cNvSpPr/>
          <p:nvPr/>
        </p:nvSpPr>
        <p:spPr>
          <a:xfrm>
            <a:off x="275871" y="6017268"/>
            <a:ext cx="9357360" cy="547116"/>
          </a:xfrm>
          <a:custGeom>
            <a:avLst/>
            <a:gdLst/>
            <a:ahLst/>
            <a:cxnLst/>
            <a:rect l="0" t="0" r="0" b="0"/>
            <a:pathLst>
              <a:path w="9357360" h="547116">
                <a:moveTo>
                  <a:pt x="0" y="547116"/>
                </a:moveTo>
                <a:lnTo>
                  <a:pt x="9357360" y="547116"/>
                </a:lnTo>
                <a:lnTo>
                  <a:pt x="9357360" y="0"/>
                </a:lnTo>
                <a:lnTo>
                  <a:pt x="0" y="0"/>
                </a:lnTo>
                <a:lnTo>
                  <a:pt x="0" y="547116"/>
                </a:lnTo>
                <a:close/>
              </a:path>
            </a:pathLst>
          </a:custGeom>
          <a:noFill/>
          <a:ln w="1778" cap="flat" cmpd="sng">
            <a:solidFill>
              <a:srgbClr val="000000">
                <a:alpha val="0"/>
              </a:srgbClr>
            </a:solidFill>
            <a:miter lim="127000"/>
          </a:ln>
        </p:spPr>
        <p:style>
          <a:lnRef idx="2">
            <a:schemeClr val="accent1">
              <a:shade val="50000"/>
            </a:schemeClr>
          </a:lnRef>
          <a:fillRef idx="1">
            <a:schemeClr val="accent1"/>
          </a:fillRef>
          <a:effectRef idx="0">
            <a:schemeClr val="accent1"/>
          </a:effectRef>
          <a:fontRef idx="minor">
            <a:schemeClr val="lt1"/>
          </a:fontRef>
        </p:style>
        <p:txBody>
          <a:bodyPr/>
          <a:lstStyle/>
          <a:p>
            <a:pPr>
              <a:lnSpc>
                <a:spcPts val="6907"/>
              </a:lnSpc>
            </a:pPr>
            <a:r>
              <a:rPr lang="en-GB" sz="1800" dirty="0">
                <a:solidFill>
                  <a:srgbClr val="00FFB9"/>
                </a:solidFill>
                <a:latin typeface="+mj-lt"/>
                <a:cs typeface="Arial"/>
              </a:rPr>
              <a:t>-</a:t>
            </a:r>
            <a:r>
              <a:rPr lang="en-GB" sz="1800" dirty="0">
                <a:solidFill>
                  <a:srgbClr val="FFFFFF"/>
                </a:solidFill>
                <a:latin typeface="+mj-lt"/>
                <a:cs typeface="Arial"/>
              </a:rPr>
              <a:t> </a:t>
            </a:r>
            <a:r>
              <a:rPr lang="en-GB" sz="1800" dirty="0">
                <a:solidFill>
                  <a:srgbClr val="00FFB9"/>
                </a:solidFill>
                <a:latin typeface="+mj-lt"/>
                <a:cs typeface="Arial"/>
              </a:rPr>
              <a:t>UC735</a:t>
            </a:r>
            <a:endParaRPr lang="en-GB" sz="1800" b="0" i="0" spc="0" baseline="0" dirty="0">
              <a:solidFill>
                <a:srgbClr val="00FFB9"/>
              </a:solidFill>
              <a:latin typeface="+mj-lt"/>
              <a:cs typeface="Arial"/>
            </a:endParaRPr>
          </a:p>
        </p:txBody>
      </p:sp>
      <p:sp>
        <p:nvSpPr>
          <p:cNvPr id="5" name="Freeform 1694">
            <a:extLst>
              <a:ext uri="{FF2B5EF4-FFF2-40B4-BE49-F238E27FC236}">
                <a16:creationId xmlns:a16="http://schemas.microsoft.com/office/drawing/2014/main" id="{0CDF425A-05B9-BF47-92E3-1377EF9088E9}"/>
              </a:ext>
            </a:extLst>
          </p:cNvPr>
          <p:cNvSpPr/>
          <p:nvPr/>
        </p:nvSpPr>
        <p:spPr>
          <a:xfrm>
            <a:off x="1073242" y="1571625"/>
            <a:ext cx="2642159" cy="1755613"/>
          </a:xfrm>
          <a:custGeom>
            <a:avLst/>
            <a:gdLst/>
            <a:ahLst/>
            <a:cxnLst/>
            <a:rect l="0" t="0" r="0" b="0"/>
            <a:pathLst>
              <a:path w="3386329" h="2305811">
                <a:moveTo>
                  <a:pt x="0" y="2305811"/>
                </a:moveTo>
                <a:lnTo>
                  <a:pt x="3386329" y="2305811"/>
                </a:lnTo>
                <a:lnTo>
                  <a:pt x="3386329" y="0"/>
                </a:lnTo>
                <a:lnTo>
                  <a:pt x="0" y="0"/>
                </a:lnTo>
                <a:lnTo>
                  <a:pt x="0" y="2305811"/>
                </a:lnTo>
                <a:close/>
              </a:path>
            </a:pathLst>
          </a:custGeom>
          <a:solidFill>
            <a:srgbClr val="333353">
              <a:alpha val="10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latin typeface="+mj-lt"/>
            </a:endParaRPr>
          </a:p>
        </p:txBody>
      </p:sp>
      <p:sp>
        <p:nvSpPr>
          <p:cNvPr id="6" name="Freeform 1695">
            <a:extLst>
              <a:ext uri="{FF2B5EF4-FFF2-40B4-BE49-F238E27FC236}">
                <a16:creationId xmlns:a16="http://schemas.microsoft.com/office/drawing/2014/main" id="{046E8202-5979-E012-13EE-4D7864D645BA}"/>
              </a:ext>
            </a:extLst>
          </p:cNvPr>
          <p:cNvSpPr/>
          <p:nvPr/>
        </p:nvSpPr>
        <p:spPr>
          <a:xfrm>
            <a:off x="1073242" y="3973908"/>
            <a:ext cx="2642159" cy="1858103"/>
          </a:xfrm>
          <a:custGeom>
            <a:avLst/>
            <a:gdLst/>
            <a:ahLst/>
            <a:cxnLst/>
            <a:rect l="0" t="0" r="0" b="0"/>
            <a:pathLst>
              <a:path w="3386329" h="2304289">
                <a:moveTo>
                  <a:pt x="0" y="2304289"/>
                </a:moveTo>
                <a:lnTo>
                  <a:pt x="3386329" y="2304289"/>
                </a:lnTo>
                <a:lnTo>
                  <a:pt x="3386329" y="0"/>
                </a:lnTo>
                <a:lnTo>
                  <a:pt x="0" y="0"/>
                </a:lnTo>
                <a:lnTo>
                  <a:pt x="0" y="2304289"/>
                </a:lnTo>
                <a:close/>
              </a:path>
            </a:pathLst>
          </a:custGeom>
          <a:solidFill>
            <a:srgbClr val="333353">
              <a:alpha val="10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dirty="0">
              <a:latin typeface="+mj-lt"/>
            </a:endParaRPr>
          </a:p>
        </p:txBody>
      </p:sp>
      <p:sp>
        <p:nvSpPr>
          <p:cNvPr id="7" name="Freeform 1696">
            <a:extLst>
              <a:ext uri="{FF2B5EF4-FFF2-40B4-BE49-F238E27FC236}">
                <a16:creationId xmlns:a16="http://schemas.microsoft.com/office/drawing/2014/main" id="{9276A37A-4F0B-E820-6514-A8444317EACB}"/>
              </a:ext>
            </a:extLst>
          </p:cNvPr>
          <p:cNvSpPr/>
          <p:nvPr/>
        </p:nvSpPr>
        <p:spPr>
          <a:xfrm>
            <a:off x="3872690" y="1571625"/>
            <a:ext cx="2690035" cy="1743889"/>
          </a:xfrm>
          <a:custGeom>
            <a:avLst/>
            <a:gdLst/>
            <a:ahLst/>
            <a:cxnLst/>
            <a:rect l="0" t="0" r="0" b="0"/>
            <a:pathLst>
              <a:path w="3384803" h="2305811">
                <a:moveTo>
                  <a:pt x="0" y="2305811"/>
                </a:moveTo>
                <a:lnTo>
                  <a:pt x="3384803" y="2305811"/>
                </a:lnTo>
                <a:lnTo>
                  <a:pt x="3384803" y="0"/>
                </a:lnTo>
                <a:lnTo>
                  <a:pt x="0" y="0"/>
                </a:lnTo>
                <a:lnTo>
                  <a:pt x="0" y="2305811"/>
                </a:lnTo>
                <a:close/>
              </a:path>
            </a:pathLst>
          </a:custGeom>
          <a:solidFill>
            <a:srgbClr val="333353">
              <a:alpha val="10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latin typeface="+mj-lt"/>
            </a:endParaRPr>
          </a:p>
        </p:txBody>
      </p:sp>
      <p:sp>
        <p:nvSpPr>
          <p:cNvPr id="8" name="Freeform 1697">
            <a:extLst>
              <a:ext uri="{FF2B5EF4-FFF2-40B4-BE49-F238E27FC236}">
                <a16:creationId xmlns:a16="http://schemas.microsoft.com/office/drawing/2014/main" id="{7BDCC018-855F-3196-3E6B-1F7B6A489FE1}"/>
              </a:ext>
            </a:extLst>
          </p:cNvPr>
          <p:cNvSpPr/>
          <p:nvPr/>
        </p:nvSpPr>
        <p:spPr>
          <a:xfrm>
            <a:off x="3864747" y="4056535"/>
            <a:ext cx="2669403" cy="1775476"/>
          </a:xfrm>
          <a:custGeom>
            <a:avLst/>
            <a:gdLst/>
            <a:ahLst/>
            <a:cxnLst/>
            <a:rect l="0" t="0" r="0" b="0"/>
            <a:pathLst>
              <a:path w="3384803" h="2304289">
                <a:moveTo>
                  <a:pt x="0" y="2304289"/>
                </a:moveTo>
                <a:lnTo>
                  <a:pt x="3384803" y="2304289"/>
                </a:lnTo>
                <a:lnTo>
                  <a:pt x="3384803" y="0"/>
                </a:lnTo>
                <a:lnTo>
                  <a:pt x="0" y="0"/>
                </a:lnTo>
                <a:lnTo>
                  <a:pt x="0" y="2304289"/>
                </a:lnTo>
                <a:close/>
              </a:path>
            </a:pathLst>
          </a:custGeom>
          <a:solidFill>
            <a:srgbClr val="333353">
              <a:alpha val="10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dirty="0">
              <a:latin typeface="+mj-lt"/>
            </a:endParaRPr>
          </a:p>
        </p:txBody>
      </p:sp>
      <p:sp>
        <p:nvSpPr>
          <p:cNvPr id="9" name="Freeform 1699">
            <a:extLst>
              <a:ext uri="{FF2B5EF4-FFF2-40B4-BE49-F238E27FC236}">
                <a16:creationId xmlns:a16="http://schemas.microsoft.com/office/drawing/2014/main" id="{C57B59AC-A035-EE58-3DBF-D612EAC4D706}"/>
              </a:ext>
            </a:extLst>
          </p:cNvPr>
          <p:cNvSpPr/>
          <p:nvPr/>
        </p:nvSpPr>
        <p:spPr>
          <a:xfrm>
            <a:off x="2922739" y="3054332"/>
            <a:ext cx="1649008" cy="1328340"/>
          </a:xfrm>
          <a:custGeom>
            <a:avLst/>
            <a:gdLst/>
            <a:ahLst/>
            <a:cxnLst/>
            <a:rect l="0" t="0" r="0" b="0"/>
            <a:pathLst>
              <a:path w="2374393" h="2374392">
                <a:moveTo>
                  <a:pt x="0" y="1187197"/>
                </a:moveTo>
                <a:cubicBezTo>
                  <a:pt x="0" y="531495"/>
                  <a:pt x="531495" y="0"/>
                  <a:pt x="1187196" y="0"/>
                </a:cubicBezTo>
                <a:cubicBezTo>
                  <a:pt x="1842898" y="0"/>
                  <a:pt x="2374393" y="531495"/>
                  <a:pt x="2374393" y="1187197"/>
                </a:cubicBezTo>
                <a:cubicBezTo>
                  <a:pt x="2374393" y="1842898"/>
                  <a:pt x="1842898" y="2374392"/>
                  <a:pt x="1187196" y="2374392"/>
                </a:cubicBezTo>
                <a:cubicBezTo>
                  <a:pt x="531495" y="2374392"/>
                  <a:pt x="0" y="1842898"/>
                  <a:pt x="0" y="1187197"/>
                </a:cubicBezTo>
                <a:close/>
                <a:moveTo>
                  <a:pt x="100584" y="4255008"/>
                </a:moveTo>
              </a:path>
            </a:pathLst>
          </a:custGeom>
          <a:solidFill>
            <a:srgbClr val="00C1B6">
              <a:alpha val="10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latin typeface="+mj-lt"/>
            </a:endParaRPr>
          </a:p>
        </p:txBody>
      </p:sp>
      <p:sp>
        <p:nvSpPr>
          <p:cNvPr id="10" name="Rectangle 9">
            <a:extLst>
              <a:ext uri="{FF2B5EF4-FFF2-40B4-BE49-F238E27FC236}">
                <a16:creationId xmlns:a16="http://schemas.microsoft.com/office/drawing/2014/main" id="{1F2C2219-6816-63CB-BCD1-81743FD7465D}"/>
              </a:ext>
            </a:extLst>
          </p:cNvPr>
          <p:cNvSpPr/>
          <p:nvPr/>
        </p:nvSpPr>
        <p:spPr>
          <a:xfrm>
            <a:off x="1261576" y="1684198"/>
            <a:ext cx="2580100"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solidFill>
                  <a:srgbClr val="00C1B6"/>
                </a:solidFill>
                <a:latin typeface="+mj-lt"/>
                <a:ea typeface="+mn-lt"/>
                <a:cs typeface="+mn-lt"/>
              </a:rPr>
              <a:t>Instant Answers</a:t>
            </a:r>
            <a:endParaRPr lang="en-GB" sz="1600" b="1" dirty="0">
              <a:solidFill>
                <a:srgbClr val="00C1B6"/>
              </a:solidFill>
              <a:latin typeface="+mj-lt"/>
            </a:endParaRPr>
          </a:p>
        </p:txBody>
      </p:sp>
      <p:sp>
        <p:nvSpPr>
          <p:cNvPr id="11" name="Rectangle 10">
            <a:extLst>
              <a:ext uri="{FF2B5EF4-FFF2-40B4-BE49-F238E27FC236}">
                <a16:creationId xmlns:a16="http://schemas.microsoft.com/office/drawing/2014/main" id="{7F684730-5218-11F2-44D8-953B4D171FF1}"/>
              </a:ext>
            </a:extLst>
          </p:cNvPr>
          <p:cNvSpPr/>
          <p:nvPr/>
        </p:nvSpPr>
        <p:spPr>
          <a:xfrm>
            <a:off x="1261576" y="4149291"/>
            <a:ext cx="2200764"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solidFill>
                  <a:srgbClr val="00C1B6"/>
                </a:solidFill>
                <a:ea typeface="+mn-lt"/>
                <a:cs typeface="Arial"/>
              </a:rPr>
              <a:t>Guidance</a:t>
            </a:r>
            <a:endParaRPr lang="en-GB" sz="1600" dirty="0">
              <a:ea typeface="Calibri"/>
              <a:cs typeface="Arial"/>
            </a:endParaRPr>
          </a:p>
        </p:txBody>
      </p:sp>
      <p:sp>
        <p:nvSpPr>
          <p:cNvPr id="12" name="Rectangle 11">
            <a:extLst>
              <a:ext uri="{FF2B5EF4-FFF2-40B4-BE49-F238E27FC236}">
                <a16:creationId xmlns:a16="http://schemas.microsoft.com/office/drawing/2014/main" id="{C92BA35C-0E09-4B47-2540-C21D6FD87EC2}"/>
              </a:ext>
            </a:extLst>
          </p:cNvPr>
          <p:cNvSpPr/>
          <p:nvPr/>
        </p:nvSpPr>
        <p:spPr>
          <a:xfrm>
            <a:off x="3841676" y="1619831"/>
            <a:ext cx="3431736"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0"/>
            <a:r>
              <a:rPr lang="en-IN" sz="1600" b="1" dirty="0">
                <a:solidFill>
                  <a:srgbClr val="00C1B6"/>
                </a:solidFill>
                <a:latin typeface="+mj-lt"/>
                <a:cs typeface="Arial"/>
              </a:rPr>
              <a:t>Deeper Knowledge base</a:t>
            </a:r>
            <a:endParaRPr lang="en-IN" sz="1600" b="1" dirty="0">
              <a:solidFill>
                <a:srgbClr val="00C1B6"/>
              </a:solidFill>
              <a:ea typeface="Calibri"/>
              <a:cs typeface="Arial"/>
            </a:endParaRPr>
          </a:p>
        </p:txBody>
      </p:sp>
      <p:sp>
        <p:nvSpPr>
          <p:cNvPr id="13" name="Rectangle 12">
            <a:extLst>
              <a:ext uri="{FF2B5EF4-FFF2-40B4-BE49-F238E27FC236}">
                <a16:creationId xmlns:a16="http://schemas.microsoft.com/office/drawing/2014/main" id="{9024F9B2-6331-5DC2-69FD-830DDBE01414}"/>
              </a:ext>
            </a:extLst>
          </p:cNvPr>
          <p:cNvSpPr/>
          <p:nvPr/>
        </p:nvSpPr>
        <p:spPr>
          <a:xfrm>
            <a:off x="3672608" y="4131744"/>
            <a:ext cx="2781298"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42315"/>
            <a:r>
              <a:rPr lang="en-GB" sz="1600" b="1" dirty="0">
                <a:solidFill>
                  <a:srgbClr val="00C1B6"/>
                </a:solidFill>
                <a:latin typeface="+mj-lt"/>
                <a:ea typeface="+mn-lt"/>
                <a:cs typeface="+mn-lt"/>
              </a:rPr>
              <a:t>Model Validation</a:t>
            </a:r>
            <a:endParaRPr lang="en-US" b="1" dirty="0">
              <a:latin typeface="+mj-lt"/>
            </a:endParaRPr>
          </a:p>
        </p:txBody>
      </p:sp>
      <p:sp>
        <p:nvSpPr>
          <p:cNvPr id="14" name="Rectangle 13">
            <a:extLst>
              <a:ext uri="{FF2B5EF4-FFF2-40B4-BE49-F238E27FC236}">
                <a16:creationId xmlns:a16="http://schemas.microsoft.com/office/drawing/2014/main" id="{F9B8F096-0D81-6CA0-5801-1C18E83D3CBF}"/>
              </a:ext>
            </a:extLst>
          </p:cNvPr>
          <p:cNvSpPr/>
          <p:nvPr/>
        </p:nvSpPr>
        <p:spPr>
          <a:xfrm>
            <a:off x="2921791" y="3566320"/>
            <a:ext cx="1651512" cy="276999"/>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1" dirty="0">
                <a:solidFill>
                  <a:srgbClr val="000000"/>
                </a:solidFill>
                <a:latin typeface="+mj-lt"/>
                <a:cs typeface="Arial"/>
              </a:rPr>
              <a:t>Features</a:t>
            </a:r>
            <a:endParaRPr lang="en-GB" sz="1800" b="1" i="0" spc="0" baseline="0" dirty="0">
              <a:solidFill>
                <a:srgbClr val="000000"/>
              </a:solidFill>
              <a:latin typeface="+mj-lt"/>
              <a:cs typeface="Arial"/>
            </a:endParaRPr>
          </a:p>
        </p:txBody>
      </p:sp>
      <p:sp>
        <p:nvSpPr>
          <p:cNvPr id="15" name="TextBox 1">
            <a:extLst>
              <a:ext uri="{FF2B5EF4-FFF2-40B4-BE49-F238E27FC236}">
                <a16:creationId xmlns:a16="http://schemas.microsoft.com/office/drawing/2014/main" id="{3A29B7EC-9DFE-DC58-E527-5C9BFB9998A8}"/>
              </a:ext>
            </a:extLst>
          </p:cNvPr>
          <p:cNvSpPr txBox="1"/>
          <p:nvPr/>
        </p:nvSpPr>
        <p:spPr>
          <a:xfrm>
            <a:off x="1064400" y="2020812"/>
            <a:ext cx="2675288" cy="116955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1400" dirty="0">
                <a:solidFill>
                  <a:schemeClr val="bg1"/>
                </a:solidFill>
                <a:latin typeface="+mj-lt"/>
                <a:ea typeface="+mn-lt"/>
                <a:cs typeface="+mn-lt"/>
              </a:rPr>
              <a:t>Get grounded answers to any question related to the workflow documentations in a concise format.</a:t>
            </a:r>
          </a:p>
          <a:p>
            <a:pPr marL="285750" indent="-285750">
              <a:buFont typeface="Arial"/>
              <a:buChar char="•"/>
            </a:pPr>
            <a:endParaRPr lang="en-US" sz="1400" dirty="0">
              <a:solidFill>
                <a:schemeClr val="bg1"/>
              </a:solidFill>
              <a:ea typeface="Calibri"/>
              <a:cs typeface="Calibri"/>
            </a:endParaRPr>
          </a:p>
        </p:txBody>
      </p:sp>
      <p:sp>
        <p:nvSpPr>
          <p:cNvPr id="16" name="TextBox 2">
            <a:extLst>
              <a:ext uri="{FF2B5EF4-FFF2-40B4-BE49-F238E27FC236}">
                <a16:creationId xmlns:a16="http://schemas.microsoft.com/office/drawing/2014/main" id="{71AB2D52-7A66-B9EA-FFEE-504337312402}"/>
              </a:ext>
            </a:extLst>
          </p:cNvPr>
          <p:cNvSpPr txBox="1"/>
          <p:nvPr/>
        </p:nvSpPr>
        <p:spPr>
          <a:xfrm>
            <a:off x="4033669" y="1928264"/>
            <a:ext cx="2634711" cy="116955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1400" dirty="0">
                <a:solidFill>
                  <a:schemeClr val="bg1"/>
                </a:solidFill>
                <a:ea typeface="+mn-lt"/>
                <a:cs typeface="+mn-lt"/>
              </a:rPr>
              <a:t>Assistant can understand both text and images in the document PPTs.</a:t>
            </a:r>
          </a:p>
          <a:p>
            <a:pPr marL="285750" indent="-285750">
              <a:buFont typeface="Arial"/>
              <a:buChar char="•"/>
            </a:pPr>
            <a:r>
              <a:rPr lang="en-US" sz="1400" dirty="0">
                <a:solidFill>
                  <a:schemeClr val="bg1"/>
                </a:solidFill>
                <a:latin typeface="+mj-lt"/>
                <a:ea typeface="Calibri"/>
                <a:cs typeface="Calibri"/>
              </a:rPr>
              <a:t>This ensures high relevancy in answers.</a:t>
            </a:r>
          </a:p>
        </p:txBody>
      </p:sp>
      <p:sp>
        <p:nvSpPr>
          <p:cNvPr id="17" name="TextBox 3">
            <a:extLst>
              <a:ext uri="{FF2B5EF4-FFF2-40B4-BE49-F238E27FC236}">
                <a16:creationId xmlns:a16="http://schemas.microsoft.com/office/drawing/2014/main" id="{63C01F4D-B4C2-C6B4-0710-AAEB93917390}"/>
              </a:ext>
            </a:extLst>
          </p:cNvPr>
          <p:cNvSpPr txBox="1"/>
          <p:nvPr/>
        </p:nvSpPr>
        <p:spPr>
          <a:xfrm>
            <a:off x="3926823" y="4465411"/>
            <a:ext cx="2416942" cy="138499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dirty="0">
                <a:solidFill>
                  <a:schemeClr val="bg1"/>
                </a:solidFill>
                <a:latin typeface="+mj-lt"/>
                <a:cs typeface="Arial"/>
              </a:rPr>
              <a:t>Agent can assess your model using MCP server.</a:t>
            </a:r>
            <a:endParaRPr lang="en-US" sz="1400" dirty="0">
              <a:solidFill>
                <a:schemeClr val="bg1"/>
              </a:solidFill>
              <a:latin typeface="+mj-lt"/>
              <a:ea typeface="Calibri"/>
              <a:cs typeface="Arial"/>
            </a:endParaRPr>
          </a:p>
          <a:p>
            <a:pPr marL="285750" indent="-285750">
              <a:buFont typeface="Arial" panose="020B0604020202020204" pitchFamily="34" charset="0"/>
              <a:buChar char="•"/>
            </a:pPr>
            <a:r>
              <a:rPr lang="en-US" sz="1400" dirty="0">
                <a:solidFill>
                  <a:schemeClr val="bg1"/>
                </a:solidFill>
                <a:ea typeface="Calibri"/>
                <a:cs typeface="Arial"/>
              </a:rPr>
              <a:t>It can validate it with best practices from the documentation. </a:t>
            </a:r>
          </a:p>
        </p:txBody>
      </p:sp>
      <p:sp>
        <p:nvSpPr>
          <p:cNvPr id="18" name="TextBox 4">
            <a:extLst>
              <a:ext uri="{FF2B5EF4-FFF2-40B4-BE49-F238E27FC236}">
                <a16:creationId xmlns:a16="http://schemas.microsoft.com/office/drawing/2014/main" id="{D699CFD1-C2A4-CE95-AE90-B851F2CD0640}"/>
              </a:ext>
            </a:extLst>
          </p:cNvPr>
          <p:cNvSpPr txBox="1"/>
          <p:nvPr/>
        </p:nvSpPr>
        <p:spPr>
          <a:xfrm>
            <a:off x="1104897" y="4556993"/>
            <a:ext cx="2610504" cy="95410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1400" dirty="0">
                <a:solidFill>
                  <a:schemeClr val="bg1"/>
                </a:solidFill>
                <a:ea typeface="Calibri"/>
                <a:cs typeface="Arial"/>
              </a:rPr>
              <a:t>Ask any question and get step-by-step guidance for building any workflow.</a:t>
            </a:r>
            <a:endParaRPr lang="en-US">
              <a:solidFill>
                <a:schemeClr val="bg1"/>
              </a:solidFill>
            </a:endParaRPr>
          </a:p>
          <a:p>
            <a:pPr marL="285750" indent="-285750">
              <a:buFont typeface="Arial" panose="020B0604020202020204" pitchFamily="34" charset="0"/>
              <a:buChar char="•"/>
            </a:pPr>
            <a:endParaRPr lang="en-US" sz="1400" dirty="0">
              <a:solidFill>
                <a:schemeClr val="bg1"/>
              </a:solidFill>
              <a:latin typeface="+mj-lt"/>
              <a:cs typeface="Arial"/>
            </a:endParaRPr>
          </a:p>
        </p:txBody>
      </p:sp>
      <p:sp>
        <p:nvSpPr>
          <p:cNvPr id="27" name="TextBox 26">
            <a:extLst>
              <a:ext uri="{FF2B5EF4-FFF2-40B4-BE49-F238E27FC236}">
                <a16:creationId xmlns:a16="http://schemas.microsoft.com/office/drawing/2014/main" id="{43D34C39-2E3D-72FC-297B-AE10BC18C4D9}"/>
              </a:ext>
            </a:extLst>
          </p:cNvPr>
          <p:cNvSpPr txBox="1"/>
          <p:nvPr/>
        </p:nvSpPr>
        <p:spPr>
          <a:xfrm>
            <a:off x="7484834" y="1480408"/>
            <a:ext cx="3955325" cy="4145149"/>
          </a:xfrm>
          <a:prstGeom prst="rect">
            <a:avLst/>
          </a:prstGeom>
          <a:solidFill>
            <a:srgbClr val="735173"/>
          </a:solidFill>
        </p:spPr>
        <p:txBody>
          <a:bodyPr wrap="square" lIns="107944" tIns="35981" rIns="0" bIns="0" rtlCol="0" anchor="t">
            <a:spAutoFit/>
          </a:bodyPr>
          <a:lstStyle/>
          <a:p>
            <a:pPr marL="86995" lvl="1" indent="-86995" algn="ctr">
              <a:lnSpc>
                <a:spcPct val="150000"/>
              </a:lnSpc>
            </a:pPr>
            <a:r>
              <a:rPr lang="en-GB" b="1" dirty="0">
                <a:solidFill>
                  <a:schemeClr val="bg1"/>
                </a:solidFill>
                <a:ea typeface="+mn-lt"/>
                <a:cs typeface="+mn-lt"/>
              </a:rPr>
              <a:t>Benefits</a:t>
            </a:r>
            <a:r>
              <a:rPr lang="en-IN" sz="1400" b="1" dirty="0">
                <a:solidFill>
                  <a:srgbClr val="FFFFFF"/>
                </a:solidFill>
                <a:latin typeface="+mj-lt"/>
                <a:cs typeface="Arial"/>
              </a:rPr>
              <a:t> </a:t>
            </a:r>
          </a:p>
          <a:p>
            <a:pPr marL="86995" lvl="1" indent="-86995" algn="ctr">
              <a:lnSpc>
                <a:spcPct val="150000"/>
              </a:lnSpc>
            </a:pPr>
            <a:endParaRPr lang="en-US" sz="1200" dirty="0">
              <a:latin typeface="+mj-lt"/>
              <a:cs typeface="Arial"/>
            </a:endParaRPr>
          </a:p>
          <a:p>
            <a:pPr marL="285750" indent="-285750">
              <a:buFont typeface="Arial" panose="020B0604020202020204" pitchFamily="34" charset="0"/>
              <a:buChar char="•"/>
            </a:pPr>
            <a:r>
              <a:rPr lang="en-IN" sz="1600" b="1" dirty="0">
                <a:solidFill>
                  <a:schemeClr val="bg1"/>
                </a:solidFill>
                <a:latin typeface="+mj-lt"/>
              </a:rPr>
              <a:t>Faster </a:t>
            </a:r>
            <a:r>
              <a:rPr lang="en-IN" sz="1600" dirty="0">
                <a:solidFill>
                  <a:schemeClr val="bg1"/>
                </a:solidFill>
                <a:latin typeface="+mj-lt"/>
              </a:rPr>
              <a:t>and </a:t>
            </a:r>
            <a:r>
              <a:rPr lang="en-IN" sz="1600" b="1" dirty="0">
                <a:solidFill>
                  <a:schemeClr val="bg1"/>
                </a:solidFill>
                <a:latin typeface="+mj-lt"/>
              </a:rPr>
              <a:t>easier </a:t>
            </a:r>
            <a:r>
              <a:rPr lang="en-IN" sz="1600" dirty="0">
                <a:solidFill>
                  <a:schemeClr val="bg1"/>
                </a:solidFill>
                <a:latin typeface="+mj-lt"/>
              </a:rPr>
              <a:t>access to precise, documented content.</a:t>
            </a:r>
            <a:endParaRPr lang="en-IN" sz="1600" dirty="0">
              <a:solidFill>
                <a:schemeClr val="bg1"/>
              </a:solidFill>
              <a:latin typeface="+mj-lt"/>
              <a:ea typeface="Calibri"/>
              <a:cs typeface="Calibri"/>
            </a:endParaRPr>
          </a:p>
          <a:p>
            <a:endParaRPr lang="en-IN" sz="1600" dirty="0">
              <a:solidFill>
                <a:schemeClr val="bg1"/>
              </a:solidFill>
              <a:latin typeface="+mj-lt"/>
            </a:endParaRPr>
          </a:p>
          <a:p>
            <a:pPr marL="285750" indent="-285750">
              <a:buFont typeface="Arial" panose="020B0604020202020204" pitchFamily="34" charset="0"/>
              <a:buChar char="•"/>
            </a:pPr>
            <a:r>
              <a:rPr lang="en-IN" sz="1600" dirty="0">
                <a:solidFill>
                  <a:schemeClr val="bg1"/>
                </a:solidFill>
                <a:latin typeface="+mj-lt"/>
              </a:rPr>
              <a:t>Answers based on </a:t>
            </a:r>
            <a:r>
              <a:rPr lang="en-IN" sz="1600" b="1" dirty="0">
                <a:solidFill>
                  <a:schemeClr val="bg1"/>
                </a:solidFill>
                <a:latin typeface="+mj-lt"/>
              </a:rPr>
              <a:t>exact slides</a:t>
            </a:r>
            <a:r>
              <a:rPr lang="en-IN" sz="1600" dirty="0">
                <a:solidFill>
                  <a:schemeClr val="bg1"/>
                </a:solidFill>
                <a:latin typeface="+mj-lt"/>
              </a:rPr>
              <a:t> and </a:t>
            </a:r>
            <a:r>
              <a:rPr lang="en-IN" sz="1600" b="1" dirty="0">
                <a:solidFill>
                  <a:schemeClr val="bg1"/>
                </a:solidFill>
                <a:latin typeface="+mj-lt"/>
              </a:rPr>
              <a:t>sections</a:t>
            </a:r>
            <a:r>
              <a:rPr lang="en-IN" sz="1600" dirty="0">
                <a:solidFill>
                  <a:schemeClr val="bg1"/>
                </a:solidFill>
                <a:latin typeface="+mj-lt"/>
              </a:rPr>
              <a:t> relevant to the user’s question.</a:t>
            </a:r>
            <a:endParaRPr lang="en-IN" sz="1600" dirty="0">
              <a:solidFill>
                <a:schemeClr val="bg1"/>
              </a:solidFill>
              <a:latin typeface="+mj-lt"/>
              <a:ea typeface="Calibri"/>
              <a:cs typeface="Calibri"/>
            </a:endParaRPr>
          </a:p>
          <a:p>
            <a:pPr marL="285750" indent="-285750">
              <a:buFont typeface="Arial" panose="020B0604020202020204" pitchFamily="34" charset="0"/>
              <a:buChar char="•"/>
            </a:pPr>
            <a:endParaRPr lang="en-IN" sz="1600" dirty="0">
              <a:solidFill>
                <a:schemeClr val="bg1"/>
              </a:solidFill>
              <a:latin typeface="+mj-lt"/>
              <a:ea typeface="Calibri"/>
              <a:cs typeface="Calibri"/>
            </a:endParaRPr>
          </a:p>
          <a:p>
            <a:pPr marL="285750" indent="-285750">
              <a:buFont typeface="Arial" panose="020B0604020202020204" pitchFamily="34" charset="0"/>
              <a:buChar char="•"/>
            </a:pPr>
            <a:r>
              <a:rPr lang="en-IN" sz="1600" dirty="0">
                <a:solidFill>
                  <a:schemeClr val="bg1"/>
                </a:solidFill>
                <a:latin typeface="+mj-lt"/>
                <a:ea typeface="Calibri"/>
                <a:cs typeface="Calibri"/>
              </a:rPr>
              <a:t>Provides</a:t>
            </a:r>
            <a:r>
              <a:rPr lang="en-IN" sz="1600" b="1" dirty="0">
                <a:solidFill>
                  <a:schemeClr val="bg1"/>
                </a:solidFill>
                <a:latin typeface="+mj-lt"/>
                <a:ea typeface="Calibri"/>
                <a:cs typeface="Calibri"/>
              </a:rPr>
              <a:t> relevant images </a:t>
            </a:r>
            <a:r>
              <a:rPr lang="en-IN" sz="1600" dirty="0">
                <a:solidFill>
                  <a:schemeClr val="bg1"/>
                </a:solidFill>
                <a:latin typeface="+mj-lt"/>
                <a:ea typeface="Calibri"/>
                <a:cs typeface="Calibri"/>
              </a:rPr>
              <a:t>gathered from the documentation in the answer.</a:t>
            </a:r>
          </a:p>
          <a:p>
            <a:endParaRPr lang="en-IN" sz="1600" dirty="0">
              <a:solidFill>
                <a:schemeClr val="bg1"/>
              </a:solidFill>
              <a:latin typeface="+mj-lt"/>
            </a:endParaRPr>
          </a:p>
          <a:p>
            <a:pPr marL="285750" indent="-285750">
              <a:buFont typeface="Arial" panose="020B0604020202020204" pitchFamily="34" charset="0"/>
              <a:buChar char="•"/>
            </a:pPr>
            <a:r>
              <a:rPr lang="en-IN" sz="1600" b="1" dirty="0">
                <a:solidFill>
                  <a:schemeClr val="bg1"/>
                </a:solidFill>
              </a:rPr>
              <a:t>Early Model Validation</a:t>
            </a:r>
            <a:r>
              <a:rPr lang="en-IN" sz="1600" dirty="0">
                <a:solidFill>
                  <a:schemeClr val="bg1"/>
                </a:solidFill>
              </a:rPr>
              <a:t> through automated, documentation-based cross-checking</a:t>
            </a:r>
            <a:r>
              <a:rPr lang="en-IN" sz="1600" dirty="0">
                <a:solidFill>
                  <a:schemeClr val="bg1"/>
                </a:solidFill>
                <a:latin typeface="Calibri"/>
                <a:ea typeface="Calibri"/>
                <a:cs typeface="Calibri"/>
              </a:rPr>
              <a:t>.</a:t>
            </a:r>
            <a:endParaRPr lang="en-IN" sz="1600" dirty="0">
              <a:solidFill>
                <a:schemeClr val="bg1"/>
              </a:solidFill>
              <a:latin typeface="+mj-lt"/>
              <a:ea typeface="Calibri"/>
              <a:cs typeface="Calibri"/>
            </a:endParaRPr>
          </a:p>
          <a:p>
            <a:pPr marL="285750" indent="-285750">
              <a:buFont typeface="Arial" panose="020B0604020202020204" pitchFamily="34" charset="0"/>
              <a:buChar char="•"/>
            </a:pPr>
            <a:endParaRPr lang="en-IN" dirty="0">
              <a:solidFill>
                <a:schemeClr val="bg1"/>
              </a:solidFill>
            </a:endParaRPr>
          </a:p>
          <a:p>
            <a:pPr marL="0" lvl="1"/>
            <a:endParaRPr lang="en-IN" sz="1200" dirty="0">
              <a:solidFill>
                <a:srgbClr val="FFFFFF"/>
              </a:solidFill>
              <a:latin typeface="Arial"/>
              <a:cs typeface="Arial"/>
            </a:endParaRPr>
          </a:p>
        </p:txBody>
      </p:sp>
      <p:pic>
        <p:nvPicPr>
          <p:cNvPr id="29" name="Graphic 28" descr="Checkmark with solid fill">
            <a:extLst>
              <a:ext uri="{FF2B5EF4-FFF2-40B4-BE49-F238E27FC236}">
                <a16:creationId xmlns:a16="http://schemas.microsoft.com/office/drawing/2014/main" id="{2CEDF0A8-560E-CF55-1AB9-3E2FBBD71D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9527" y="1368922"/>
            <a:ext cx="405406" cy="405406"/>
          </a:xfrm>
          <a:prstGeom prst="rect">
            <a:avLst/>
          </a:prstGeom>
        </p:spPr>
      </p:pic>
      <p:pic>
        <p:nvPicPr>
          <p:cNvPr id="30" name="Graphic 29" descr="Checkmark with solid fill">
            <a:extLst>
              <a:ext uri="{FF2B5EF4-FFF2-40B4-BE49-F238E27FC236}">
                <a16:creationId xmlns:a16="http://schemas.microsoft.com/office/drawing/2014/main" id="{DD3FCDFB-A62A-244D-FA08-8DBE640C54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21244" y="1368922"/>
            <a:ext cx="405406" cy="405406"/>
          </a:xfrm>
          <a:prstGeom prst="rect">
            <a:avLst/>
          </a:prstGeom>
        </p:spPr>
      </p:pic>
      <p:pic>
        <p:nvPicPr>
          <p:cNvPr id="31" name="Graphic 30" descr="Checkmark with solid fill">
            <a:extLst>
              <a:ext uri="{FF2B5EF4-FFF2-40B4-BE49-F238E27FC236}">
                <a16:creationId xmlns:a16="http://schemas.microsoft.com/office/drawing/2014/main" id="{AD81AC4D-56F9-3BC4-37F6-0B426B87E4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3896" y="3776048"/>
            <a:ext cx="405406" cy="405406"/>
          </a:xfrm>
          <a:prstGeom prst="rect">
            <a:avLst/>
          </a:prstGeom>
        </p:spPr>
      </p:pic>
      <p:sp>
        <p:nvSpPr>
          <p:cNvPr id="96" name="TextBox 95">
            <a:extLst>
              <a:ext uri="{FF2B5EF4-FFF2-40B4-BE49-F238E27FC236}">
                <a16:creationId xmlns:a16="http://schemas.microsoft.com/office/drawing/2014/main" id="{CE04528F-4D61-A54B-7731-C028DD1A9349}"/>
              </a:ext>
            </a:extLst>
          </p:cNvPr>
          <p:cNvSpPr txBox="1"/>
          <p:nvPr/>
        </p:nvSpPr>
        <p:spPr>
          <a:xfrm>
            <a:off x="6074655" y="3821994"/>
            <a:ext cx="1198757" cy="461665"/>
          </a:xfrm>
          <a:prstGeom prst="rect">
            <a:avLst/>
          </a:prstGeom>
          <a:noFill/>
        </p:spPr>
        <p:txBody>
          <a:bodyPr wrap="square" rtlCol="0">
            <a:spAutoFit/>
          </a:bodyPr>
          <a:lstStyle/>
          <a:p>
            <a:r>
              <a:rPr lang="en-IN" sz="1200" b="1" dirty="0">
                <a:solidFill>
                  <a:srgbClr val="3AB996"/>
                </a:solidFill>
              </a:rPr>
              <a:t>Under</a:t>
            </a:r>
          </a:p>
          <a:p>
            <a:r>
              <a:rPr lang="en-IN" sz="1200" b="1" dirty="0">
                <a:solidFill>
                  <a:srgbClr val="3AB996"/>
                </a:solidFill>
              </a:rPr>
              <a:t>Development</a:t>
            </a:r>
          </a:p>
        </p:txBody>
      </p:sp>
      <p:sp>
        <p:nvSpPr>
          <p:cNvPr id="97" name="Rectangle 96">
            <a:extLst>
              <a:ext uri="{FF2B5EF4-FFF2-40B4-BE49-F238E27FC236}">
                <a16:creationId xmlns:a16="http://schemas.microsoft.com/office/drawing/2014/main" id="{18161EFE-A257-4B09-8860-BDB095FB57C2}"/>
              </a:ext>
            </a:extLst>
          </p:cNvPr>
          <p:cNvSpPr/>
          <p:nvPr/>
        </p:nvSpPr>
        <p:spPr>
          <a:xfrm>
            <a:off x="6074655" y="3776048"/>
            <a:ext cx="1129120" cy="547116"/>
          </a:xfrm>
          <a:prstGeom prst="rect">
            <a:avLst/>
          </a:prstGeom>
          <a:noFill/>
          <a:ln>
            <a:solidFill>
              <a:srgbClr val="00FF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E7D97C6-1A55-B67A-61FA-EEBD99A12302}"/>
              </a:ext>
            </a:extLst>
          </p:cNvPr>
          <p:cNvSpPr txBox="1"/>
          <p:nvPr/>
        </p:nvSpPr>
        <p:spPr>
          <a:xfrm>
            <a:off x="411162" y="139038"/>
            <a:ext cx="10058199" cy="444161"/>
          </a:xfrm>
          <a:prstGeom prst="rect">
            <a:avLst/>
          </a:prstGeom>
          <a:noFill/>
        </p:spPr>
        <p:txBody>
          <a:bodyPr wrap="square" lIns="0" tIns="0" rIns="0" bIns="0" rtlCol="0" anchor="t">
            <a:spAutoFit/>
          </a:bodyPr>
          <a:lstStyle/>
          <a:p>
            <a:pPr>
              <a:lnSpc>
                <a:spcPct val="107000"/>
              </a:lnSpc>
              <a:spcAft>
                <a:spcPts val="800"/>
              </a:spcAft>
            </a:pPr>
            <a:r>
              <a:rPr lang="en-IN" sz="2800" b="1" dirty="0">
                <a:solidFill>
                  <a:schemeClr val="bg1"/>
                </a:solidFill>
                <a:latin typeface="+mj-lt"/>
                <a:ea typeface="Calibri"/>
                <a:cs typeface="Calibri"/>
              </a:rPr>
              <a:t>Document Aware Agent</a:t>
            </a:r>
            <a:endParaRPr lang="en-US" sz="2800" dirty="0">
              <a:solidFill>
                <a:schemeClr val="bg1"/>
              </a:solidFill>
              <a:latin typeface="+mj-lt"/>
            </a:endParaRPr>
          </a:p>
        </p:txBody>
      </p:sp>
      <p:sp>
        <p:nvSpPr>
          <p:cNvPr id="19" name="TextBox 18">
            <a:extLst>
              <a:ext uri="{FF2B5EF4-FFF2-40B4-BE49-F238E27FC236}">
                <a16:creationId xmlns:a16="http://schemas.microsoft.com/office/drawing/2014/main" id="{430511E4-1A5C-17D7-C5BF-4E9A88B7D900}"/>
              </a:ext>
            </a:extLst>
          </p:cNvPr>
          <p:cNvSpPr txBox="1"/>
          <p:nvPr/>
        </p:nvSpPr>
        <p:spPr>
          <a:xfrm>
            <a:off x="404819" y="567174"/>
            <a:ext cx="6924830" cy="369332"/>
          </a:xfrm>
          <a:prstGeom prst="rect">
            <a:avLst/>
          </a:prstGeom>
          <a:noFill/>
        </p:spPr>
        <p:txBody>
          <a:bodyPr wrap="square" lIns="0" tIns="0" rIns="0" bIns="0" rtlCol="0" anchor="t">
            <a:spAutoFit/>
          </a:bodyPr>
          <a:lstStyle/>
          <a:p>
            <a:pPr lvl="0">
              <a:buNone/>
            </a:pPr>
            <a:r>
              <a:rPr lang="en-US" sz="2400" b="1" dirty="0">
                <a:solidFill>
                  <a:srgbClr val="00FFB9"/>
                </a:solidFill>
              </a:rPr>
              <a:t>AI Agents for Simulation Workflow</a:t>
            </a:r>
          </a:p>
        </p:txBody>
      </p:sp>
      <p:sp>
        <p:nvSpPr>
          <p:cNvPr id="20" name="Rectangle 19">
            <a:extLst>
              <a:ext uri="{FF2B5EF4-FFF2-40B4-BE49-F238E27FC236}">
                <a16:creationId xmlns:a16="http://schemas.microsoft.com/office/drawing/2014/main" id="{48F0C465-4D89-ED5C-985E-1AE17F3008ED}"/>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602682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68969-A5ED-9661-2912-69E543DDE3F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2170AAA-49DB-A8F9-EEAC-55482C0F7C28}"/>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5D574B1F-BABA-4AC3-5ED3-C17CA24D362C}"/>
              </a:ext>
            </a:extLst>
          </p:cNvPr>
          <p:cNvSpPr>
            <a:spLocks noGrp="1"/>
          </p:cNvSpPr>
          <p:nvPr>
            <p:ph type="sldNum" sz="quarter" idx="11"/>
          </p:nvPr>
        </p:nvSpPr>
        <p:spPr/>
        <p:txBody>
          <a:bodyPr/>
          <a:lstStyle/>
          <a:p>
            <a:r>
              <a:rPr lang="en-US"/>
              <a:t>Page </a:t>
            </a:r>
            <a:fld id="{15EBE321-CBB1-4E91-BD14-37C8D44326FB}" type="slidenum">
              <a:rPr lang="en-US" smtClean="0"/>
              <a:pPr/>
              <a:t>8</a:t>
            </a:fld>
            <a:endParaRPr lang="en-US"/>
          </a:p>
        </p:txBody>
      </p:sp>
      <p:sp>
        <p:nvSpPr>
          <p:cNvPr id="6" name="Title 5">
            <a:extLst>
              <a:ext uri="{FF2B5EF4-FFF2-40B4-BE49-F238E27FC236}">
                <a16:creationId xmlns:a16="http://schemas.microsoft.com/office/drawing/2014/main" id="{8C1BCF9D-C071-2A57-9B3F-E21D51C44533}"/>
              </a:ext>
            </a:extLst>
          </p:cNvPr>
          <p:cNvSpPr>
            <a:spLocks noGrp="1"/>
          </p:cNvSpPr>
          <p:nvPr>
            <p:ph type="title"/>
          </p:nvPr>
        </p:nvSpPr>
        <p:spPr/>
        <p:txBody>
          <a:bodyPr/>
          <a:lstStyle/>
          <a:p>
            <a:r>
              <a:rPr lang="en-IN" sz="2800" dirty="0"/>
              <a:t>Sample </a:t>
            </a:r>
            <a:r>
              <a:rPr lang="en-IN" sz="2800" dirty="0" err="1"/>
              <a:t>Amesim</a:t>
            </a:r>
            <a:r>
              <a:rPr lang="en-IN" sz="2800" dirty="0"/>
              <a:t> Model: </a:t>
            </a:r>
          </a:p>
        </p:txBody>
      </p:sp>
      <p:sp>
        <p:nvSpPr>
          <p:cNvPr id="9" name="Rectangle 8">
            <a:extLst>
              <a:ext uri="{FF2B5EF4-FFF2-40B4-BE49-F238E27FC236}">
                <a16:creationId xmlns:a16="http://schemas.microsoft.com/office/drawing/2014/main" id="{3FCC1D09-4334-006E-774C-A2734A87C3D5}"/>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06A1CA47-E7ED-F64D-3B77-6FA68FCBA7A6}"/>
              </a:ext>
            </a:extLst>
          </p:cNvPr>
          <p:cNvPicPr>
            <a:picLocks noChangeAspect="1"/>
          </p:cNvPicPr>
          <p:nvPr/>
        </p:nvPicPr>
        <p:blipFill>
          <a:blip r:embed="rId2"/>
          <a:stretch>
            <a:fillRect/>
          </a:stretch>
        </p:blipFill>
        <p:spPr>
          <a:xfrm>
            <a:off x="180167" y="1912716"/>
            <a:ext cx="4243578" cy="3096391"/>
          </a:xfrm>
          <a:prstGeom prst="rect">
            <a:avLst/>
          </a:prstGeom>
        </p:spPr>
      </p:pic>
      <p:pic>
        <p:nvPicPr>
          <p:cNvPr id="10" name="Picture 9">
            <a:extLst>
              <a:ext uri="{FF2B5EF4-FFF2-40B4-BE49-F238E27FC236}">
                <a16:creationId xmlns:a16="http://schemas.microsoft.com/office/drawing/2014/main" id="{5765C97F-62AA-5084-F7A1-9A77A445C24A}"/>
              </a:ext>
            </a:extLst>
          </p:cNvPr>
          <p:cNvPicPr>
            <a:picLocks noChangeAspect="1"/>
          </p:cNvPicPr>
          <p:nvPr/>
        </p:nvPicPr>
        <p:blipFill>
          <a:blip r:embed="rId3"/>
          <a:stretch>
            <a:fillRect/>
          </a:stretch>
        </p:blipFill>
        <p:spPr>
          <a:xfrm>
            <a:off x="6079308" y="803865"/>
            <a:ext cx="5904871" cy="5506935"/>
          </a:xfrm>
          <a:prstGeom prst="rect">
            <a:avLst/>
          </a:prstGeom>
        </p:spPr>
      </p:pic>
      <p:sp>
        <p:nvSpPr>
          <p:cNvPr id="13" name="Arrow: Left-Right 12">
            <a:extLst>
              <a:ext uri="{FF2B5EF4-FFF2-40B4-BE49-F238E27FC236}">
                <a16:creationId xmlns:a16="http://schemas.microsoft.com/office/drawing/2014/main" id="{4BF06C6D-266A-45C1-BECB-195A0D388540}"/>
              </a:ext>
            </a:extLst>
          </p:cNvPr>
          <p:cNvSpPr/>
          <p:nvPr/>
        </p:nvSpPr>
        <p:spPr>
          <a:xfrm>
            <a:off x="4623461" y="3162240"/>
            <a:ext cx="1271016" cy="547200"/>
          </a:xfrm>
          <a:prstGeom prst="lef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IN" dirty="0"/>
          </a:p>
        </p:txBody>
      </p:sp>
      <p:sp>
        <p:nvSpPr>
          <p:cNvPr id="14" name="TextBox 13">
            <a:extLst>
              <a:ext uri="{FF2B5EF4-FFF2-40B4-BE49-F238E27FC236}">
                <a16:creationId xmlns:a16="http://schemas.microsoft.com/office/drawing/2014/main" id="{6F45336E-2B15-2347-58A9-5673A6BBFA94}"/>
              </a:ext>
            </a:extLst>
          </p:cNvPr>
          <p:cNvSpPr txBox="1"/>
          <p:nvPr/>
        </p:nvSpPr>
        <p:spPr>
          <a:xfrm>
            <a:off x="1508760" y="1428647"/>
            <a:ext cx="2368296" cy="276999"/>
          </a:xfrm>
          <a:prstGeom prst="rect">
            <a:avLst/>
          </a:prstGeom>
          <a:noFill/>
        </p:spPr>
        <p:txBody>
          <a:bodyPr wrap="square" lIns="0" tIns="0" rIns="0" bIns="0" rtlCol="0">
            <a:spAutoFit/>
          </a:bodyPr>
          <a:lstStyle/>
          <a:p>
            <a:pPr algn="l"/>
            <a:r>
              <a:rPr lang="en-IN" dirty="0" err="1"/>
              <a:t>Amesim</a:t>
            </a:r>
            <a:r>
              <a:rPr lang="en-IN" dirty="0"/>
              <a:t> Model</a:t>
            </a:r>
          </a:p>
        </p:txBody>
      </p:sp>
      <p:sp>
        <p:nvSpPr>
          <p:cNvPr id="15" name="TextBox 14">
            <a:extLst>
              <a:ext uri="{FF2B5EF4-FFF2-40B4-BE49-F238E27FC236}">
                <a16:creationId xmlns:a16="http://schemas.microsoft.com/office/drawing/2014/main" id="{0A336CC8-3128-6CA9-7530-24EB8D5022AD}"/>
              </a:ext>
            </a:extLst>
          </p:cNvPr>
          <p:cNvSpPr txBox="1"/>
          <p:nvPr/>
        </p:nvSpPr>
        <p:spPr>
          <a:xfrm>
            <a:off x="7787640" y="408700"/>
            <a:ext cx="2956560" cy="276999"/>
          </a:xfrm>
          <a:prstGeom prst="rect">
            <a:avLst/>
          </a:prstGeom>
          <a:noFill/>
        </p:spPr>
        <p:txBody>
          <a:bodyPr wrap="square" lIns="0" tIns="0" rIns="0" bIns="0" rtlCol="0">
            <a:spAutoFit/>
          </a:bodyPr>
          <a:lstStyle/>
          <a:p>
            <a:pPr algn="l"/>
            <a:r>
              <a:rPr lang="en-IN" dirty="0" err="1"/>
              <a:t>Amesim</a:t>
            </a:r>
            <a:r>
              <a:rPr lang="en-IN" dirty="0"/>
              <a:t> Model.py / .</a:t>
            </a:r>
            <a:r>
              <a:rPr lang="en-IN" dirty="0" err="1"/>
              <a:t>ame</a:t>
            </a:r>
            <a:endParaRPr lang="en-IN" dirty="0"/>
          </a:p>
        </p:txBody>
      </p:sp>
    </p:spTree>
    <p:extLst>
      <p:ext uri="{BB962C8B-B14F-4D97-AF65-F5344CB8AC3E}">
        <p14:creationId xmlns:p14="http://schemas.microsoft.com/office/powerpoint/2010/main" val="4009834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FD06C-B9DB-5B24-C96B-136ABD4B592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4509D5-F7E6-BDEC-F08F-DF44392E767E}"/>
              </a:ext>
            </a:extLst>
          </p:cNvPr>
          <p:cNvSpPr>
            <a:spLocks noGrp="1"/>
          </p:cNvSpPr>
          <p:nvPr>
            <p:ph type="ftr" sz="quarter" idx="10"/>
          </p:nvPr>
        </p:nvSpPr>
        <p:spPr/>
        <p:txBody>
          <a:bodyPr/>
          <a:lstStyle/>
          <a:p>
            <a:pPr>
              <a:lnSpc>
                <a:spcPct val="100000"/>
              </a:lnSpc>
            </a:pPr>
            <a:r>
              <a:rPr lang="en-US" dirty="0"/>
              <a:t>Restricted | © Siemens 2026 | Siemens Digital Industries Software </a:t>
            </a:r>
          </a:p>
        </p:txBody>
      </p:sp>
      <p:sp>
        <p:nvSpPr>
          <p:cNvPr id="4" name="Slide Number Placeholder 3">
            <a:extLst>
              <a:ext uri="{FF2B5EF4-FFF2-40B4-BE49-F238E27FC236}">
                <a16:creationId xmlns:a16="http://schemas.microsoft.com/office/drawing/2014/main" id="{B267D22B-7F87-DAAF-23E8-C4F05765D711}"/>
              </a:ext>
            </a:extLst>
          </p:cNvPr>
          <p:cNvSpPr>
            <a:spLocks noGrp="1"/>
          </p:cNvSpPr>
          <p:nvPr>
            <p:ph type="sldNum" sz="quarter" idx="11"/>
          </p:nvPr>
        </p:nvSpPr>
        <p:spPr>
          <a:xfrm>
            <a:off x="277298" y="6321097"/>
            <a:ext cx="781864" cy="536903"/>
          </a:xfrm>
        </p:spPr>
        <p:txBody>
          <a:bodyPr/>
          <a:lstStyle/>
          <a:p>
            <a:r>
              <a:rPr lang="en-US"/>
              <a:t>Page </a:t>
            </a:r>
            <a:fld id="{15EBE321-CBB1-4E91-BD14-37C8D44326FB}" type="slidenum">
              <a:rPr lang="en-US" smtClean="0"/>
              <a:pPr/>
              <a:t>9</a:t>
            </a:fld>
            <a:endParaRPr lang="en-US"/>
          </a:p>
        </p:txBody>
      </p:sp>
      <p:sp>
        <p:nvSpPr>
          <p:cNvPr id="11" name="TextBox 10">
            <a:extLst>
              <a:ext uri="{FF2B5EF4-FFF2-40B4-BE49-F238E27FC236}">
                <a16:creationId xmlns:a16="http://schemas.microsoft.com/office/drawing/2014/main" id="{5467DC2F-F6E2-DE1A-DDED-603337ABFA67}"/>
              </a:ext>
            </a:extLst>
          </p:cNvPr>
          <p:cNvSpPr txBox="1"/>
          <p:nvPr/>
        </p:nvSpPr>
        <p:spPr>
          <a:xfrm>
            <a:off x="5451326" y="896343"/>
            <a:ext cx="6182389" cy="755329"/>
          </a:xfrm>
          <a:prstGeom prst="rect">
            <a:avLst/>
          </a:prstGeom>
          <a:solidFill>
            <a:srgbClr val="005F6E"/>
          </a:solidFill>
        </p:spPr>
        <p:txBody>
          <a:bodyPr wrap="square" lIns="71963" tIns="0" rIns="0" bIns="107944" rtlCol="0" anchor="t">
            <a:spAutoFit/>
          </a:bodyPr>
          <a:lstStyle/>
          <a:p>
            <a:pPr marL="0" lvl="1" algn="ctr"/>
            <a:r>
              <a:rPr lang="en-IN" sz="1400" b="1" dirty="0">
                <a:ea typeface="+mn-lt"/>
                <a:cs typeface="+mn-lt"/>
              </a:rPr>
              <a:t> My role and Contributions: </a:t>
            </a:r>
          </a:p>
          <a:p>
            <a:pPr marL="285750" indent="-285750">
              <a:buFont typeface="Arial"/>
              <a:buChar char="•"/>
            </a:pPr>
            <a:r>
              <a:rPr lang="en-US" sz="1400" dirty="0">
                <a:cs typeface="Arial"/>
              </a:rPr>
              <a:t>Research and development of POC</a:t>
            </a:r>
          </a:p>
          <a:p>
            <a:pPr marL="285750" indent="-285750">
              <a:buFont typeface="Arial"/>
              <a:buChar char="•"/>
            </a:pPr>
            <a:r>
              <a:rPr lang="en-US" sz="1400" dirty="0">
                <a:cs typeface="Arial"/>
              </a:rPr>
              <a:t>Production deployment on Azure.</a:t>
            </a:r>
          </a:p>
        </p:txBody>
      </p:sp>
      <p:sp>
        <p:nvSpPr>
          <p:cNvPr id="7" name="Rectangle 6">
            <a:extLst>
              <a:ext uri="{FF2B5EF4-FFF2-40B4-BE49-F238E27FC236}">
                <a16:creationId xmlns:a16="http://schemas.microsoft.com/office/drawing/2014/main" id="{81FC856A-9D1E-9DC1-7599-2E06D30FF676}"/>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sp>
        <p:nvSpPr>
          <p:cNvPr id="10" name="TextBox 9">
            <a:extLst>
              <a:ext uri="{FF2B5EF4-FFF2-40B4-BE49-F238E27FC236}">
                <a16:creationId xmlns:a16="http://schemas.microsoft.com/office/drawing/2014/main" id="{3722708A-4158-E063-1A1A-5117AB24B9FB}"/>
              </a:ext>
            </a:extLst>
          </p:cNvPr>
          <p:cNvSpPr txBox="1"/>
          <p:nvPr/>
        </p:nvSpPr>
        <p:spPr>
          <a:xfrm>
            <a:off x="7673841" y="2084194"/>
            <a:ext cx="1737360" cy="276999"/>
          </a:xfrm>
          <a:prstGeom prst="rect">
            <a:avLst/>
          </a:prstGeom>
          <a:noFill/>
        </p:spPr>
        <p:txBody>
          <a:bodyPr wrap="square" lIns="0" tIns="0" rIns="0" bIns="0" rtlCol="0">
            <a:spAutoFit/>
          </a:bodyPr>
          <a:lstStyle/>
          <a:p>
            <a:pPr algn="l"/>
            <a:r>
              <a:rPr lang="en-IN" b="1" dirty="0">
                <a:solidFill>
                  <a:srgbClr val="F7C600"/>
                </a:solidFill>
                <a:latin typeface="+mj-lt"/>
              </a:rPr>
              <a:t>Architecture</a:t>
            </a:r>
          </a:p>
        </p:txBody>
      </p:sp>
      <p:sp>
        <p:nvSpPr>
          <p:cNvPr id="17" name="TextBox 16">
            <a:extLst>
              <a:ext uri="{FF2B5EF4-FFF2-40B4-BE49-F238E27FC236}">
                <a16:creationId xmlns:a16="http://schemas.microsoft.com/office/drawing/2014/main" id="{CA7105F6-A233-2F83-7BD8-C56BA1132855}"/>
              </a:ext>
            </a:extLst>
          </p:cNvPr>
          <p:cNvSpPr txBox="1"/>
          <p:nvPr/>
        </p:nvSpPr>
        <p:spPr>
          <a:xfrm>
            <a:off x="196020" y="1507008"/>
            <a:ext cx="4718480" cy="4571758"/>
          </a:xfrm>
          <a:prstGeom prst="rect">
            <a:avLst/>
          </a:prstGeom>
          <a:solidFill>
            <a:srgbClr val="005F6E"/>
          </a:solidFill>
        </p:spPr>
        <p:txBody>
          <a:bodyPr wrap="square" lIns="71963" tIns="0" rIns="0" bIns="107944" rtlCol="0" anchor="t">
            <a:spAutoFit/>
          </a:bodyPr>
          <a:lstStyle/>
          <a:p>
            <a:pPr lvl="1">
              <a:lnSpc>
                <a:spcPct val="150000"/>
              </a:lnSpc>
              <a:spcBef>
                <a:spcPts val="0"/>
              </a:spcBef>
            </a:pPr>
            <a:r>
              <a:rPr lang="en-IN" sz="1600" b="1" dirty="0">
                <a:solidFill>
                  <a:srgbClr val="FFFFFF"/>
                </a:solidFill>
                <a:latin typeface="+mj-lt"/>
                <a:cs typeface="Arial"/>
              </a:rPr>
              <a:t>                              Solution</a:t>
            </a:r>
          </a:p>
          <a:p>
            <a:pPr marL="285750" indent="-285750">
              <a:buFont typeface="Arial"/>
              <a:buChar char="•"/>
            </a:pPr>
            <a:r>
              <a:rPr lang="en-US" sz="1400" dirty="0">
                <a:latin typeface="+mj-lt"/>
                <a:ea typeface="+mn-lt"/>
                <a:cs typeface="Arial"/>
              </a:rPr>
              <a:t>Create Custom Skillset which can analyze image and create its description as text to build a RAG over it. </a:t>
            </a:r>
          </a:p>
          <a:p>
            <a:pPr marL="285750" indent="-285750">
              <a:buFont typeface="Arial"/>
              <a:buChar char="•"/>
            </a:pPr>
            <a:endParaRPr lang="en-US" sz="1400" dirty="0">
              <a:latin typeface="+mj-lt"/>
              <a:ea typeface="+mn-lt"/>
              <a:cs typeface="Arial"/>
            </a:endParaRPr>
          </a:p>
          <a:p>
            <a:pPr marL="285750" indent="-285750">
              <a:buFont typeface="Arial"/>
              <a:buChar char="•"/>
            </a:pPr>
            <a:r>
              <a:rPr lang="en-US" sz="1400" dirty="0">
                <a:latin typeface="+mj-lt"/>
                <a:ea typeface="+mn-lt"/>
                <a:cs typeface="Arial"/>
              </a:rPr>
              <a:t>For Real-time access of Model Status in </a:t>
            </a:r>
            <a:r>
              <a:rPr lang="en-US" sz="1400" dirty="0" err="1">
                <a:latin typeface="+mj-lt"/>
                <a:ea typeface="+mn-lt"/>
                <a:cs typeface="Arial"/>
              </a:rPr>
              <a:t>Amesim</a:t>
            </a:r>
            <a:r>
              <a:rPr lang="en-US" sz="1400" dirty="0">
                <a:latin typeface="+mj-lt"/>
                <a:ea typeface="+mn-lt"/>
                <a:cs typeface="Arial"/>
              </a:rPr>
              <a:t> create a MCP server which will directly send logs of </a:t>
            </a:r>
            <a:r>
              <a:rPr lang="en-US" sz="1400" dirty="0" err="1">
                <a:latin typeface="+mj-lt"/>
                <a:ea typeface="+mn-lt"/>
                <a:cs typeface="Arial"/>
              </a:rPr>
              <a:t>Amesim</a:t>
            </a:r>
            <a:r>
              <a:rPr lang="en-US" sz="1400" dirty="0">
                <a:latin typeface="+mj-lt"/>
                <a:ea typeface="+mn-lt"/>
                <a:cs typeface="Arial"/>
              </a:rPr>
              <a:t> software through a backend server to which MCP can communicate. </a:t>
            </a:r>
          </a:p>
          <a:p>
            <a:endParaRPr lang="en-US" sz="1400" dirty="0">
              <a:latin typeface="+mj-lt"/>
              <a:ea typeface="+mn-lt"/>
              <a:cs typeface="Arial"/>
            </a:endParaRPr>
          </a:p>
          <a:p>
            <a:pPr marL="285750" indent="-285750">
              <a:buFont typeface="Arial"/>
              <a:buChar char="•"/>
            </a:pPr>
            <a:r>
              <a:rPr lang="en-US" sz="1400" dirty="0">
                <a:latin typeface="+mj-lt"/>
                <a:ea typeface="+mn-lt"/>
                <a:cs typeface="Arial"/>
              </a:rPr>
              <a:t>Integrate the Azure AI Search service as a tool for Agent.</a:t>
            </a:r>
          </a:p>
          <a:p>
            <a:pPr marL="285750" indent="-285750">
              <a:buFont typeface="Arial"/>
              <a:buChar char="•"/>
            </a:pPr>
            <a:endParaRPr lang="en-US" sz="1400" dirty="0">
              <a:latin typeface="+mj-lt"/>
              <a:ea typeface="+mn-lt"/>
              <a:cs typeface="Arial"/>
            </a:endParaRPr>
          </a:p>
          <a:p>
            <a:pPr marL="285750" indent="-285750">
              <a:buFont typeface="Arial"/>
              <a:buChar char="•"/>
            </a:pPr>
            <a:r>
              <a:rPr lang="en-US" sz="1400" dirty="0">
                <a:latin typeface="+mj-lt"/>
                <a:ea typeface="+mn-lt"/>
                <a:cs typeface="Arial"/>
              </a:rPr>
              <a:t>Create Workflow Agent to handle documentation related task and workflow steps related task. </a:t>
            </a:r>
          </a:p>
          <a:p>
            <a:pPr marL="285750" indent="-285750">
              <a:buFont typeface="Arial"/>
              <a:buChar char="•"/>
            </a:pPr>
            <a:endParaRPr lang="en-US" sz="1400" dirty="0">
              <a:latin typeface="+mj-lt"/>
              <a:ea typeface="+mn-lt"/>
              <a:cs typeface="Arial"/>
            </a:endParaRPr>
          </a:p>
          <a:p>
            <a:pPr marL="285750" indent="-285750">
              <a:buFont typeface="Arial"/>
              <a:buChar char="•"/>
            </a:pPr>
            <a:r>
              <a:rPr lang="en-US" sz="1400" dirty="0">
                <a:latin typeface="+mj-lt"/>
                <a:ea typeface="+mn-lt"/>
                <a:cs typeface="Arial"/>
              </a:rPr>
              <a:t>Create </a:t>
            </a:r>
            <a:r>
              <a:rPr lang="en-US" sz="1400" dirty="0" err="1">
                <a:latin typeface="+mj-lt"/>
                <a:ea typeface="+mn-lt"/>
                <a:cs typeface="Arial"/>
              </a:rPr>
              <a:t>Amesim</a:t>
            </a:r>
            <a:r>
              <a:rPr lang="en-US" sz="1400" dirty="0">
                <a:latin typeface="+mj-lt"/>
                <a:ea typeface="+mn-lt"/>
                <a:cs typeface="Arial"/>
              </a:rPr>
              <a:t> Agent to handle Model Inspection related task. </a:t>
            </a:r>
          </a:p>
          <a:p>
            <a:pPr marL="285750" indent="-285750">
              <a:buFont typeface="Arial"/>
              <a:buChar char="•"/>
            </a:pPr>
            <a:endParaRPr lang="en-US" sz="1400" dirty="0">
              <a:latin typeface="+mj-lt"/>
              <a:ea typeface="+mn-lt"/>
              <a:cs typeface="Arial"/>
            </a:endParaRPr>
          </a:p>
          <a:p>
            <a:pPr marL="285750" indent="-285750">
              <a:buFont typeface="Arial"/>
              <a:buChar char="•"/>
            </a:pPr>
            <a:r>
              <a:rPr lang="en-US" sz="1400" dirty="0">
                <a:latin typeface="+mj-lt"/>
                <a:ea typeface="+mn-lt"/>
                <a:cs typeface="Arial"/>
              </a:rPr>
              <a:t>Create a Supervisor Agent which can route the task to specific agent based on user query. </a:t>
            </a:r>
          </a:p>
        </p:txBody>
      </p:sp>
      <p:sp>
        <p:nvSpPr>
          <p:cNvPr id="9" name="TextBox 8">
            <a:extLst>
              <a:ext uri="{FF2B5EF4-FFF2-40B4-BE49-F238E27FC236}">
                <a16:creationId xmlns:a16="http://schemas.microsoft.com/office/drawing/2014/main" id="{52C9949D-9FA7-FC1F-0E95-0A58C087BF21}"/>
              </a:ext>
            </a:extLst>
          </p:cNvPr>
          <p:cNvSpPr txBox="1"/>
          <p:nvPr/>
        </p:nvSpPr>
        <p:spPr>
          <a:xfrm>
            <a:off x="404819" y="226580"/>
            <a:ext cx="6924830" cy="369332"/>
          </a:xfrm>
          <a:prstGeom prst="rect">
            <a:avLst/>
          </a:prstGeom>
          <a:noFill/>
        </p:spPr>
        <p:txBody>
          <a:bodyPr wrap="square" lIns="0" tIns="0" rIns="0" bIns="0" rtlCol="0" anchor="t">
            <a:spAutoFit/>
          </a:bodyPr>
          <a:lstStyle/>
          <a:p>
            <a:pPr lvl="0">
              <a:buNone/>
            </a:pPr>
            <a:r>
              <a:rPr lang="en-US" sz="2400" b="1" dirty="0">
                <a:solidFill>
                  <a:srgbClr val="00FFB9"/>
                </a:solidFill>
              </a:rPr>
              <a:t>AI Agents for Simulation Workflow</a:t>
            </a:r>
          </a:p>
        </p:txBody>
      </p:sp>
      <p:pic>
        <p:nvPicPr>
          <p:cNvPr id="5" name="Picture 4">
            <a:extLst>
              <a:ext uri="{FF2B5EF4-FFF2-40B4-BE49-F238E27FC236}">
                <a16:creationId xmlns:a16="http://schemas.microsoft.com/office/drawing/2014/main" id="{312E8557-58EE-05AC-3D00-1DC51CAE6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9108" y="2561741"/>
            <a:ext cx="7166827" cy="3070963"/>
          </a:xfrm>
          <a:prstGeom prst="rect">
            <a:avLst/>
          </a:prstGeom>
        </p:spPr>
      </p:pic>
    </p:spTree>
    <p:extLst>
      <p:ext uri="{BB962C8B-B14F-4D97-AF65-F5344CB8AC3E}">
        <p14:creationId xmlns:p14="http://schemas.microsoft.com/office/powerpoint/2010/main" val="2210680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30FA9-3273-FFF5-FA5E-32626CB042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7CAEF3-DC5A-777C-9775-0B72204B988B}"/>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523DB399-8667-4745-068D-030E6574107F}"/>
              </a:ext>
            </a:extLst>
          </p:cNvPr>
          <p:cNvSpPr>
            <a:spLocks noGrp="1"/>
          </p:cNvSpPr>
          <p:nvPr>
            <p:ph type="sldNum" sz="quarter" idx="11"/>
          </p:nvPr>
        </p:nvSpPr>
        <p:spPr/>
        <p:txBody>
          <a:bodyPr/>
          <a:lstStyle/>
          <a:p>
            <a:r>
              <a:rPr lang="en-US"/>
              <a:t>Page </a:t>
            </a:r>
            <a:fld id="{15EBE321-CBB1-4E91-BD14-37C8D44326FB}" type="slidenum">
              <a:rPr lang="en-US" smtClean="0"/>
              <a:pPr/>
              <a:t>10</a:t>
            </a:fld>
            <a:endParaRPr lang="en-US"/>
          </a:p>
        </p:txBody>
      </p:sp>
      <p:sp>
        <p:nvSpPr>
          <p:cNvPr id="6" name="Title 5">
            <a:extLst>
              <a:ext uri="{FF2B5EF4-FFF2-40B4-BE49-F238E27FC236}">
                <a16:creationId xmlns:a16="http://schemas.microsoft.com/office/drawing/2014/main" id="{D9B709FD-2657-CFD3-859A-34A6E41A00EC}"/>
              </a:ext>
            </a:extLst>
          </p:cNvPr>
          <p:cNvSpPr>
            <a:spLocks noGrp="1"/>
          </p:cNvSpPr>
          <p:nvPr>
            <p:ph type="title"/>
          </p:nvPr>
        </p:nvSpPr>
        <p:spPr/>
        <p:txBody>
          <a:bodyPr/>
          <a:lstStyle/>
          <a:p>
            <a:r>
              <a:rPr lang="en-IN" sz="2800" dirty="0"/>
              <a:t>RAG Quality Evaluation:  RAGAS Metrics </a:t>
            </a:r>
          </a:p>
        </p:txBody>
      </p:sp>
      <p:sp>
        <p:nvSpPr>
          <p:cNvPr id="9" name="Rectangle 8">
            <a:extLst>
              <a:ext uri="{FF2B5EF4-FFF2-40B4-BE49-F238E27FC236}">
                <a16:creationId xmlns:a16="http://schemas.microsoft.com/office/drawing/2014/main" id="{1EF23CB2-2DE1-5FDA-2CAB-27DB34F4EDDD}"/>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275A6A4D-AC78-3A6E-0964-BADC4A184EE7}"/>
              </a:ext>
            </a:extLst>
          </p:cNvPr>
          <p:cNvPicPr>
            <a:picLocks noChangeAspect="1"/>
          </p:cNvPicPr>
          <p:nvPr/>
        </p:nvPicPr>
        <p:blipFill>
          <a:blip r:embed="rId2"/>
          <a:stretch>
            <a:fillRect/>
          </a:stretch>
        </p:blipFill>
        <p:spPr>
          <a:xfrm>
            <a:off x="1277392" y="1078966"/>
            <a:ext cx="10033190" cy="5300234"/>
          </a:xfrm>
          <a:prstGeom prst="rect">
            <a:avLst/>
          </a:prstGeom>
        </p:spPr>
      </p:pic>
    </p:spTree>
    <p:extLst>
      <p:ext uri="{BB962C8B-B14F-4D97-AF65-F5344CB8AC3E}">
        <p14:creationId xmlns:p14="http://schemas.microsoft.com/office/powerpoint/2010/main" val="1182478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15445-D23A-253A-44B8-B6083EB90A8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2498A4-21CF-6F35-33A8-08C4028BC51F}"/>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17AD7A12-BDF8-98A0-A8D3-ABBAF964E1EB}"/>
              </a:ext>
            </a:extLst>
          </p:cNvPr>
          <p:cNvSpPr>
            <a:spLocks noGrp="1"/>
          </p:cNvSpPr>
          <p:nvPr>
            <p:ph type="sldNum" sz="quarter" idx="11"/>
          </p:nvPr>
        </p:nvSpPr>
        <p:spPr/>
        <p:txBody>
          <a:bodyPr/>
          <a:lstStyle/>
          <a:p>
            <a:r>
              <a:rPr lang="en-US"/>
              <a:t>Page </a:t>
            </a:r>
            <a:fld id="{15EBE321-CBB1-4E91-BD14-37C8D44326FB}" type="slidenum">
              <a:rPr lang="en-US" smtClean="0"/>
              <a:pPr/>
              <a:t>11</a:t>
            </a:fld>
            <a:endParaRPr lang="en-US"/>
          </a:p>
        </p:txBody>
      </p:sp>
      <p:sp>
        <p:nvSpPr>
          <p:cNvPr id="6" name="Title 5">
            <a:extLst>
              <a:ext uri="{FF2B5EF4-FFF2-40B4-BE49-F238E27FC236}">
                <a16:creationId xmlns:a16="http://schemas.microsoft.com/office/drawing/2014/main" id="{7C95FC56-9C7D-8BAA-7594-7251A1041AEE}"/>
              </a:ext>
            </a:extLst>
          </p:cNvPr>
          <p:cNvSpPr>
            <a:spLocks noGrp="1"/>
          </p:cNvSpPr>
          <p:nvPr>
            <p:ph type="title"/>
          </p:nvPr>
        </p:nvSpPr>
        <p:spPr/>
        <p:txBody>
          <a:bodyPr/>
          <a:lstStyle/>
          <a:p>
            <a:r>
              <a:rPr lang="en-IN" sz="2800" dirty="0"/>
              <a:t>Tracing : </a:t>
            </a:r>
            <a:r>
              <a:rPr lang="en-IN" sz="2800" dirty="0" err="1"/>
              <a:t>Opentelementry</a:t>
            </a:r>
            <a:r>
              <a:rPr lang="en-IN" sz="2800" dirty="0"/>
              <a:t> in VS code and AI Toolkit</a:t>
            </a:r>
          </a:p>
        </p:txBody>
      </p:sp>
      <p:sp>
        <p:nvSpPr>
          <p:cNvPr id="9" name="Rectangle 8">
            <a:extLst>
              <a:ext uri="{FF2B5EF4-FFF2-40B4-BE49-F238E27FC236}">
                <a16:creationId xmlns:a16="http://schemas.microsoft.com/office/drawing/2014/main" id="{B7B8243A-9236-53E4-06BB-444B0A7973D6}"/>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pic>
        <p:nvPicPr>
          <p:cNvPr id="7" name="Picture 6">
            <a:extLst>
              <a:ext uri="{FF2B5EF4-FFF2-40B4-BE49-F238E27FC236}">
                <a16:creationId xmlns:a16="http://schemas.microsoft.com/office/drawing/2014/main" id="{3894ADDC-73CE-371B-85F5-27B166A5EA1D}"/>
              </a:ext>
            </a:extLst>
          </p:cNvPr>
          <p:cNvPicPr>
            <a:picLocks noChangeAspect="1"/>
          </p:cNvPicPr>
          <p:nvPr/>
        </p:nvPicPr>
        <p:blipFill>
          <a:blip r:embed="rId2"/>
          <a:stretch>
            <a:fillRect/>
          </a:stretch>
        </p:blipFill>
        <p:spPr>
          <a:xfrm>
            <a:off x="2095500" y="2084641"/>
            <a:ext cx="8001000" cy="3895725"/>
          </a:xfrm>
          <a:prstGeom prst="rect">
            <a:avLst/>
          </a:prstGeom>
        </p:spPr>
      </p:pic>
    </p:spTree>
    <p:extLst>
      <p:ext uri="{BB962C8B-B14F-4D97-AF65-F5344CB8AC3E}">
        <p14:creationId xmlns:p14="http://schemas.microsoft.com/office/powerpoint/2010/main" val="4115140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CB9A6-E9C4-E89A-D945-735A98CCED3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DCC9BB-94C9-0940-4B5B-CD68454DFBA8}"/>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57EF06CE-F75B-CACF-D369-85FCF9FD40F2}"/>
              </a:ext>
            </a:extLst>
          </p:cNvPr>
          <p:cNvSpPr>
            <a:spLocks noGrp="1"/>
          </p:cNvSpPr>
          <p:nvPr>
            <p:ph type="sldNum" sz="quarter" idx="11"/>
          </p:nvPr>
        </p:nvSpPr>
        <p:spPr/>
        <p:txBody>
          <a:bodyPr/>
          <a:lstStyle/>
          <a:p>
            <a:r>
              <a:rPr lang="en-US"/>
              <a:t>Page </a:t>
            </a:r>
            <a:fld id="{15EBE321-CBB1-4E91-BD14-37C8D44326FB}" type="slidenum">
              <a:rPr lang="en-US" smtClean="0"/>
              <a:pPr/>
              <a:t>12</a:t>
            </a:fld>
            <a:endParaRPr lang="en-US"/>
          </a:p>
        </p:txBody>
      </p:sp>
      <p:sp>
        <p:nvSpPr>
          <p:cNvPr id="6" name="Title 5">
            <a:extLst>
              <a:ext uri="{FF2B5EF4-FFF2-40B4-BE49-F238E27FC236}">
                <a16:creationId xmlns:a16="http://schemas.microsoft.com/office/drawing/2014/main" id="{BD7D3BD8-E47D-C337-A940-8EF690B9263F}"/>
              </a:ext>
            </a:extLst>
          </p:cNvPr>
          <p:cNvSpPr>
            <a:spLocks noGrp="1"/>
          </p:cNvSpPr>
          <p:nvPr>
            <p:ph type="title"/>
          </p:nvPr>
        </p:nvSpPr>
        <p:spPr>
          <a:xfrm>
            <a:off x="410400" y="478800"/>
            <a:ext cx="10818432" cy="576000"/>
          </a:xfrm>
        </p:spPr>
        <p:txBody>
          <a:bodyPr/>
          <a:lstStyle/>
          <a:p>
            <a:r>
              <a:rPr lang="en-IN" sz="2800" dirty="0"/>
              <a:t>Chatbot UI in React  using Siemens IX Component Library</a:t>
            </a:r>
          </a:p>
        </p:txBody>
      </p:sp>
      <p:sp>
        <p:nvSpPr>
          <p:cNvPr id="9" name="Rectangle 8">
            <a:extLst>
              <a:ext uri="{FF2B5EF4-FFF2-40B4-BE49-F238E27FC236}">
                <a16:creationId xmlns:a16="http://schemas.microsoft.com/office/drawing/2014/main" id="{F1445FF0-FEC0-6D41-AB62-449B75F9AC27}"/>
              </a:ext>
            </a:extLst>
          </p:cNvPr>
          <p:cNvSpPr/>
          <p:nvPr/>
        </p:nvSpPr>
        <p:spPr>
          <a:xfrm>
            <a:off x="180167" y="139037"/>
            <a:ext cx="96412" cy="712407"/>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pic>
        <p:nvPicPr>
          <p:cNvPr id="7" name="Picture 6">
            <a:extLst>
              <a:ext uri="{FF2B5EF4-FFF2-40B4-BE49-F238E27FC236}">
                <a16:creationId xmlns:a16="http://schemas.microsoft.com/office/drawing/2014/main" id="{64C6292D-79CB-09A0-3660-B34B0F31AF41}"/>
              </a:ext>
            </a:extLst>
          </p:cNvPr>
          <p:cNvPicPr>
            <a:picLocks noChangeAspect="1"/>
          </p:cNvPicPr>
          <p:nvPr/>
        </p:nvPicPr>
        <p:blipFill>
          <a:blip r:embed="rId2"/>
          <a:stretch>
            <a:fillRect/>
          </a:stretch>
        </p:blipFill>
        <p:spPr>
          <a:xfrm>
            <a:off x="2054704" y="1369022"/>
            <a:ext cx="8220456" cy="4802402"/>
          </a:xfrm>
          <a:prstGeom prst="rect">
            <a:avLst/>
          </a:prstGeom>
        </p:spPr>
      </p:pic>
    </p:spTree>
    <p:extLst>
      <p:ext uri="{BB962C8B-B14F-4D97-AF65-F5344CB8AC3E}">
        <p14:creationId xmlns:p14="http://schemas.microsoft.com/office/powerpoint/2010/main" val="2851357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6AAFC-5F0A-0FDC-9BB5-AF893D64A392}"/>
              </a:ext>
            </a:extLst>
          </p:cNvPr>
          <p:cNvSpPr>
            <a:spLocks noGrp="1"/>
          </p:cNvSpPr>
          <p:nvPr>
            <p:ph type="title"/>
          </p:nvPr>
        </p:nvSpPr>
        <p:spPr/>
        <p:txBody>
          <a:bodyPr/>
          <a:lstStyle/>
          <a:p>
            <a:r>
              <a:rPr lang="en-US" sz="4000" dirty="0">
                <a:cs typeface="Arial"/>
              </a:rPr>
              <a:t>Tech Stack</a:t>
            </a:r>
            <a:endParaRPr lang="en-US" sz="4000" dirty="0"/>
          </a:p>
        </p:txBody>
      </p:sp>
      <p:sp>
        <p:nvSpPr>
          <p:cNvPr id="3" name="Footer Placeholder 2">
            <a:extLst>
              <a:ext uri="{FF2B5EF4-FFF2-40B4-BE49-F238E27FC236}">
                <a16:creationId xmlns:a16="http://schemas.microsoft.com/office/drawing/2014/main" id="{1CDE663B-A98C-92F7-4000-E65CBBEC79F0}"/>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D9CE6D97-B813-4C5F-2A04-E75A33D4DA5E}"/>
              </a:ext>
            </a:extLst>
          </p:cNvPr>
          <p:cNvSpPr>
            <a:spLocks noGrp="1"/>
          </p:cNvSpPr>
          <p:nvPr>
            <p:ph type="sldNum" sz="quarter" idx="11"/>
          </p:nvPr>
        </p:nvSpPr>
        <p:spPr/>
        <p:txBody>
          <a:bodyPr/>
          <a:lstStyle/>
          <a:p>
            <a:r>
              <a:rPr lang="en-US"/>
              <a:t>Page </a:t>
            </a:r>
            <a:fld id="{15EBE321-CBB1-4E91-BD14-37C8D44326FB}" type="slidenum">
              <a:rPr lang="en-US" smtClean="0"/>
              <a:pPr/>
              <a:t>13</a:t>
            </a:fld>
            <a:endParaRPr lang="en-US"/>
          </a:p>
        </p:txBody>
      </p:sp>
      <p:grpSp>
        <p:nvGrpSpPr>
          <p:cNvPr id="27" name="Group 26">
            <a:extLst>
              <a:ext uri="{FF2B5EF4-FFF2-40B4-BE49-F238E27FC236}">
                <a16:creationId xmlns:a16="http://schemas.microsoft.com/office/drawing/2014/main" id="{12894716-A723-5BB1-0436-F6DD0506817C}"/>
              </a:ext>
            </a:extLst>
          </p:cNvPr>
          <p:cNvGrpSpPr/>
          <p:nvPr/>
        </p:nvGrpSpPr>
        <p:grpSpPr>
          <a:xfrm>
            <a:off x="853386" y="4083063"/>
            <a:ext cx="4179388" cy="2012867"/>
            <a:chOff x="453824" y="4065319"/>
            <a:chExt cx="4102876" cy="2012867"/>
          </a:xfrm>
        </p:grpSpPr>
        <p:sp>
          <p:nvSpPr>
            <p:cNvPr id="25" name="Rectangle: Rounded Corners 24">
              <a:extLst>
                <a:ext uri="{FF2B5EF4-FFF2-40B4-BE49-F238E27FC236}">
                  <a16:creationId xmlns:a16="http://schemas.microsoft.com/office/drawing/2014/main" id="{CCD654B0-9B1B-84E0-4021-E609D8C1BBFE}"/>
                </a:ext>
              </a:extLst>
            </p:cNvPr>
            <p:cNvSpPr/>
            <p:nvPr/>
          </p:nvSpPr>
          <p:spPr>
            <a:xfrm>
              <a:off x="453824" y="4065319"/>
              <a:ext cx="4102876" cy="2012867"/>
            </a:xfrm>
            <a:prstGeom prst="roundRect">
              <a:avLst/>
            </a:prstGeom>
            <a:solidFill>
              <a:schemeClr val="accent3">
                <a:lumMod val="5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a:cs typeface="Arial"/>
                </a:rPr>
                <a:t>Databases:</a:t>
              </a:r>
              <a:endParaRPr lang="en-US"/>
            </a:p>
          </p:txBody>
        </p:sp>
        <p:pic>
          <p:nvPicPr>
            <p:cNvPr id="6" name="Picture 5" descr="A blue hexagon with black text and numbers&#10;&#10;AI-generated content may be incorrect.">
              <a:extLst>
                <a:ext uri="{FF2B5EF4-FFF2-40B4-BE49-F238E27FC236}">
                  <a16:creationId xmlns:a16="http://schemas.microsoft.com/office/drawing/2014/main" id="{9397EA66-D361-9CA5-04FA-6F8A16BA0474}"/>
                </a:ext>
              </a:extLst>
            </p:cNvPr>
            <p:cNvPicPr>
              <a:picLocks noChangeAspect="1"/>
            </p:cNvPicPr>
            <p:nvPr/>
          </p:nvPicPr>
          <p:blipFill>
            <a:blip r:embed="rId2"/>
            <a:srcRect l="26689" r="26013" b="826"/>
            <a:stretch/>
          </p:blipFill>
          <p:spPr>
            <a:xfrm>
              <a:off x="761582" y="4607252"/>
              <a:ext cx="1066617" cy="929002"/>
            </a:xfrm>
            <a:prstGeom prst="rect">
              <a:avLst/>
            </a:prstGeom>
          </p:spPr>
        </p:pic>
        <p:sp>
          <p:nvSpPr>
            <p:cNvPr id="16" name="TextBox 15">
              <a:extLst>
                <a:ext uri="{FF2B5EF4-FFF2-40B4-BE49-F238E27FC236}">
                  <a16:creationId xmlns:a16="http://schemas.microsoft.com/office/drawing/2014/main" id="{27B5CAA3-7A7D-4FFF-E4CE-C9BD1FB4D7F1}"/>
                </a:ext>
              </a:extLst>
            </p:cNvPr>
            <p:cNvSpPr txBox="1"/>
            <p:nvPr/>
          </p:nvSpPr>
          <p:spPr>
            <a:xfrm>
              <a:off x="761582" y="5622554"/>
              <a:ext cx="135563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200" dirty="0">
                  <a:cs typeface="Arial"/>
                </a:rPr>
                <a:t>Azure Blob Storage</a:t>
              </a:r>
              <a:endParaRPr lang="en-US" sz="1200" dirty="0"/>
            </a:p>
          </p:txBody>
        </p:sp>
      </p:grpSp>
      <p:grpSp>
        <p:nvGrpSpPr>
          <p:cNvPr id="26" name="Group 25">
            <a:extLst>
              <a:ext uri="{FF2B5EF4-FFF2-40B4-BE49-F238E27FC236}">
                <a16:creationId xmlns:a16="http://schemas.microsoft.com/office/drawing/2014/main" id="{968C19A4-3E86-55F7-4F44-EC786220AC1B}"/>
              </a:ext>
            </a:extLst>
          </p:cNvPr>
          <p:cNvGrpSpPr/>
          <p:nvPr/>
        </p:nvGrpSpPr>
        <p:grpSpPr>
          <a:xfrm>
            <a:off x="413658" y="1269669"/>
            <a:ext cx="6192320" cy="2727094"/>
            <a:chOff x="473035" y="1269669"/>
            <a:chExt cx="5149931" cy="2012868"/>
          </a:xfrm>
        </p:grpSpPr>
        <p:sp>
          <p:nvSpPr>
            <p:cNvPr id="21" name="Rectangle: Rounded Corners 20">
              <a:extLst>
                <a:ext uri="{FF2B5EF4-FFF2-40B4-BE49-F238E27FC236}">
                  <a16:creationId xmlns:a16="http://schemas.microsoft.com/office/drawing/2014/main" id="{893C2363-04EF-783D-9455-DBA5DB833C2F}"/>
                </a:ext>
              </a:extLst>
            </p:cNvPr>
            <p:cNvSpPr/>
            <p:nvPr/>
          </p:nvSpPr>
          <p:spPr>
            <a:xfrm>
              <a:off x="473035" y="1269669"/>
              <a:ext cx="5149931" cy="2012868"/>
            </a:xfrm>
            <a:prstGeom prst="roundRect">
              <a:avLst/>
            </a:prstGeom>
            <a:solidFill>
              <a:schemeClr val="accent3">
                <a:lumMod val="5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a:cs typeface="Arial"/>
                </a:rPr>
                <a:t>Programming languages and Frameworks:</a:t>
              </a:r>
              <a:endParaRPr lang="en-US"/>
            </a:p>
          </p:txBody>
        </p:sp>
        <p:pic>
          <p:nvPicPr>
            <p:cNvPr id="22" name="Picture 21" descr="Download Python Logo PNG Vector - GSS TECHNOLOGY">
              <a:extLst>
                <a:ext uri="{FF2B5EF4-FFF2-40B4-BE49-F238E27FC236}">
                  <a16:creationId xmlns:a16="http://schemas.microsoft.com/office/drawing/2014/main" id="{6809AD61-60A6-84AF-2FED-1BA819C3A528}"/>
                </a:ext>
              </a:extLst>
            </p:cNvPr>
            <p:cNvPicPr>
              <a:picLocks noChangeAspect="1"/>
            </p:cNvPicPr>
            <p:nvPr/>
          </p:nvPicPr>
          <p:blipFill>
            <a:blip r:embed="rId3"/>
            <a:stretch>
              <a:fillRect/>
            </a:stretch>
          </p:blipFill>
          <p:spPr>
            <a:xfrm>
              <a:off x="1013784" y="1651466"/>
              <a:ext cx="787485" cy="746714"/>
            </a:xfrm>
            <a:prstGeom prst="rect">
              <a:avLst/>
            </a:prstGeom>
          </p:spPr>
        </p:pic>
        <p:pic>
          <p:nvPicPr>
            <p:cNvPr id="23" name="Picture 22" descr="Flask Logo PNG Transparent &amp; SVG Vector - Freebie Supply">
              <a:extLst>
                <a:ext uri="{FF2B5EF4-FFF2-40B4-BE49-F238E27FC236}">
                  <a16:creationId xmlns:a16="http://schemas.microsoft.com/office/drawing/2014/main" id="{AD78687B-0491-DE94-4D97-F43AC7DC22D2}"/>
                </a:ext>
              </a:extLst>
            </p:cNvPr>
            <p:cNvPicPr>
              <a:picLocks noChangeAspect="1"/>
            </p:cNvPicPr>
            <p:nvPr/>
          </p:nvPicPr>
          <p:blipFill>
            <a:blip r:embed="rId4"/>
            <a:stretch>
              <a:fillRect/>
            </a:stretch>
          </p:blipFill>
          <p:spPr>
            <a:xfrm>
              <a:off x="2165366" y="1732792"/>
              <a:ext cx="400818" cy="527677"/>
            </a:xfrm>
            <a:prstGeom prst="rect">
              <a:avLst/>
            </a:prstGeom>
          </p:spPr>
        </p:pic>
        <p:pic>
          <p:nvPicPr>
            <p:cNvPr id="24" name="Picture 23" descr="Brand • Streamlit">
              <a:extLst>
                <a:ext uri="{FF2B5EF4-FFF2-40B4-BE49-F238E27FC236}">
                  <a16:creationId xmlns:a16="http://schemas.microsoft.com/office/drawing/2014/main" id="{0E3CFFAE-0368-CF77-5B17-60860B8C660D}"/>
                </a:ext>
              </a:extLst>
            </p:cNvPr>
            <p:cNvPicPr>
              <a:picLocks noChangeAspect="1"/>
            </p:cNvPicPr>
            <p:nvPr/>
          </p:nvPicPr>
          <p:blipFill>
            <a:blip r:embed="rId5"/>
            <a:stretch>
              <a:fillRect/>
            </a:stretch>
          </p:blipFill>
          <p:spPr>
            <a:xfrm>
              <a:off x="2972360" y="1715661"/>
              <a:ext cx="1085773" cy="610340"/>
            </a:xfrm>
            <a:prstGeom prst="rect">
              <a:avLst/>
            </a:prstGeom>
          </p:spPr>
        </p:pic>
      </p:grpSp>
      <p:grpSp>
        <p:nvGrpSpPr>
          <p:cNvPr id="35" name="Group 34">
            <a:extLst>
              <a:ext uri="{FF2B5EF4-FFF2-40B4-BE49-F238E27FC236}">
                <a16:creationId xmlns:a16="http://schemas.microsoft.com/office/drawing/2014/main" id="{B403E14D-9C24-8E2C-C908-4E2B9EACB098}"/>
              </a:ext>
            </a:extLst>
          </p:cNvPr>
          <p:cNvGrpSpPr/>
          <p:nvPr/>
        </p:nvGrpSpPr>
        <p:grpSpPr>
          <a:xfrm>
            <a:off x="6865969" y="4083063"/>
            <a:ext cx="5149931" cy="2012867"/>
            <a:chOff x="4926281" y="3783277"/>
            <a:chExt cx="5207521" cy="2012867"/>
          </a:xfrm>
        </p:grpSpPr>
        <p:sp>
          <p:nvSpPr>
            <p:cNvPr id="29" name="Rectangle: Rounded Corners 28">
              <a:extLst>
                <a:ext uri="{FF2B5EF4-FFF2-40B4-BE49-F238E27FC236}">
                  <a16:creationId xmlns:a16="http://schemas.microsoft.com/office/drawing/2014/main" id="{C68A1B4D-2DB5-1C5B-CBE6-D3FA1C8F4001}"/>
                </a:ext>
              </a:extLst>
            </p:cNvPr>
            <p:cNvSpPr/>
            <p:nvPr/>
          </p:nvSpPr>
          <p:spPr>
            <a:xfrm>
              <a:off x="4926281" y="3783277"/>
              <a:ext cx="5207521" cy="2012867"/>
            </a:xfrm>
            <a:prstGeom prst="roundRect">
              <a:avLst/>
            </a:prstGeom>
            <a:solidFill>
              <a:schemeClr val="accent3">
                <a:lumMod val="5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dirty="0">
                  <a:cs typeface="Arial"/>
                </a:rPr>
                <a:t>Cloud service:</a:t>
              </a:r>
            </a:p>
          </p:txBody>
        </p:sp>
        <p:pic>
          <p:nvPicPr>
            <p:cNvPr id="34" name="Picture 33" descr="Azure Open AI | Transforming AI Development for Businesses">
              <a:extLst>
                <a:ext uri="{FF2B5EF4-FFF2-40B4-BE49-F238E27FC236}">
                  <a16:creationId xmlns:a16="http://schemas.microsoft.com/office/drawing/2014/main" id="{65071BF8-8580-B44B-8732-7BBF2A9E0629}"/>
                </a:ext>
              </a:extLst>
            </p:cNvPr>
            <p:cNvPicPr>
              <a:picLocks noChangeAspect="1"/>
            </p:cNvPicPr>
            <p:nvPr/>
          </p:nvPicPr>
          <p:blipFill>
            <a:blip r:embed="rId6"/>
            <a:stretch>
              <a:fillRect/>
            </a:stretch>
          </p:blipFill>
          <p:spPr>
            <a:xfrm>
              <a:off x="5647047" y="4558828"/>
              <a:ext cx="2743200" cy="560832"/>
            </a:xfrm>
            <a:prstGeom prst="rect">
              <a:avLst/>
            </a:prstGeom>
          </p:spPr>
        </p:pic>
      </p:grpSp>
      <p:sp>
        <p:nvSpPr>
          <p:cNvPr id="37" name="Rectangle: Rounded Corners 36">
            <a:extLst>
              <a:ext uri="{FF2B5EF4-FFF2-40B4-BE49-F238E27FC236}">
                <a16:creationId xmlns:a16="http://schemas.microsoft.com/office/drawing/2014/main" id="{58246BEB-7AB4-65D6-F086-FDE474F1BDCC}"/>
              </a:ext>
            </a:extLst>
          </p:cNvPr>
          <p:cNvSpPr/>
          <p:nvPr/>
        </p:nvSpPr>
        <p:spPr>
          <a:xfrm>
            <a:off x="7100809" y="1269670"/>
            <a:ext cx="4809220" cy="2012866"/>
          </a:xfrm>
          <a:prstGeom prst="roundRect">
            <a:avLst/>
          </a:prstGeom>
          <a:solidFill>
            <a:schemeClr val="accent3">
              <a:lumMod val="5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dirty="0">
                <a:cs typeface="Arial"/>
              </a:rPr>
              <a:t>Deployment: </a:t>
            </a:r>
            <a:endParaRPr lang="en-US" dirty="0"/>
          </a:p>
        </p:txBody>
      </p:sp>
      <p:pic>
        <p:nvPicPr>
          <p:cNvPr id="2052" name="Picture 4" descr="Azure Cloud Services | Sysvine Technologies">
            <a:extLst>
              <a:ext uri="{FF2B5EF4-FFF2-40B4-BE49-F238E27FC236}">
                <a16:creationId xmlns:a16="http://schemas.microsoft.com/office/drawing/2014/main" id="{1320C775-5EFA-17FF-338C-FF64AD5BD0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32360" y="4585984"/>
            <a:ext cx="1334936" cy="102345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0FECC45-8F8A-9B5F-A40B-F76F3FBD334B}"/>
              </a:ext>
            </a:extLst>
          </p:cNvPr>
          <p:cNvSpPr/>
          <p:nvPr/>
        </p:nvSpPr>
        <p:spPr>
          <a:xfrm>
            <a:off x="180167" y="139037"/>
            <a:ext cx="75865" cy="1022251"/>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lgn="l"/>
            <a:endParaRPr lang="en-IN" b="1">
              <a:ln w="22225">
                <a:solidFill>
                  <a:schemeClr val="accent2"/>
                </a:solidFill>
                <a:prstDash val="solid"/>
              </a:ln>
              <a:solidFill>
                <a:schemeClr val="accent2">
                  <a:lumMod val="40000"/>
                  <a:lumOff val="60000"/>
                </a:schemeClr>
              </a:solidFill>
            </a:endParaRPr>
          </a:p>
        </p:txBody>
      </p:sp>
      <p:pic>
        <p:nvPicPr>
          <p:cNvPr id="8" name="Picture 7">
            <a:extLst>
              <a:ext uri="{FF2B5EF4-FFF2-40B4-BE49-F238E27FC236}">
                <a16:creationId xmlns:a16="http://schemas.microsoft.com/office/drawing/2014/main" id="{5F4E9C33-0B1E-8441-206B-EA7ED671D9EB}"/>
              </a:ext>
            </a:extLst>
          </p:cNvPr>
          <p:cNvPicPr>
            <a:picLocks noChangeAspect="1"/>
          </p:cNvPicPr>
          <p:nvPr/>
        </p:nvPicPr>
        <p:blipFill>
          <a:blip r:embed="rId8"/>
          <a:stretch>
            <a:fillRect/>
          </a:stretch>
        </p:blipFill>
        <p:spPr>
          <a:xfrm>
            <a:off x="7602675" y="1955625"/>
            <a:ext cx="1904602" cy="809901"/>
          </a:xfrm>
          <a:prstGeom prst="rect">
            <a:avLst/>
          </a:prstGeom>
        </p:spPr>
      </p:pic>
      <p:sp>
        <p:nvSpPr>
          <p:cNvPr id="9" name="AutoShape 2" descr="Microsoft Azure Container Apps | Sysdig">
            <a:extLst>
              <a:ext uri="{FF2B5EF4-FFF2-40B4-BE49-F238E27FC236}">
                <a16:creationId xmlns:a16="http://schemas.microsoft.com/office/drawing/2014/main" id="{B0F1643F-B6A0-2C85-6533-BFB75239D88D}"/>
              </a:ext>
            </a:extLst>
          </p:cNvPr>
          <p:cNvSpPr>
            <a:spLocks noChangeAspect="1" noChangeArrowheads="1"/>
          </p:cNvSpPr>
          <p:nvPr/>
        </p:nvSpPr>
        <p:spPr bwMode="auto">
          <a:xfrm>
            <a:off x="5943600" y="3276600"/>
            <a:ext cx="950976" cy="9509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Microsoft Azure Container Apps | Sysdig">
            <a:extLst>
              <a:ext uri="{FF2B5EF4-FFF2-40B4-BE49-F238E27FC236}">
                <a16:creationId xmlns:a16="http://schemas.microsoft.com/office/drawing/2014/main" id="{CD746774-9688-944D-E909-903328F2DC7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C8BAFDAB-A238-3E26-0974-F651D6996840}"/>
              </a:ext>
            </a:extLst>
          </p:cNvPr>
          <p:cNvPicPr>
            <a:picLocks noChangeAspect="1"/>
          </p:cNvPicPr>
          <p:nvPr/>
        </p:nvPicPr>
        <p:blipFill>
          <a:blip r:embed="rId9"/>
          <a:stretch>
            <a:fillRect/>
          </a:stretch>
        </p:blipFill>
        <p:spPr>
          <a:xfrm>
            <a:off x="9849304" y="1955625"/>
            <a:ext cx="1929038" cy="809901"/>
          </a:xfrm>
          <a:prstGeom prst="rect">
            <a:avLst/>
          </a:prstGeom>
        </p:spPr>
      </p:pic>
      <p:pic>
        <p:nvPicPr>
          <p:cNvPr id="18" name="Picture 17">
            <a:extLst>
              <a:ext uri="{FF2B5EF4-FFF2-40B4-BE49-F238E27FC236}">
                <a16:creationId xmlns:a16="http://schemas.microsoft.com/office/drawing/2014/main" id="{0BE44631-A53B-ABEA-A2FB-5C958ABD9874}"/>
              </a:ext>
            </a:extLst>
          </p:cNvPr>
          <p:cNvPicPr>
            <a:picLocks noChangeAspect="1"/>
          </p:cNvPicPr>
          <p:nvPr/>
        </p:nvPicPr>
        <p:blipFill>
          <a:blip r:embed="rId10"/>
          <a:stretch>
            <a:fillRect/>
          </a:stretch>
        </p:blipFill>
        <p:spPr>
          <a:xfrm>
            <a:off x="3096672" y="4598927"/>
            <a:ext cx="1277713" cy="1259460"/>
          </a:xfrm>
          <a:prstGeom prst="rect">
            <a:avLst/>
          </a:prstGeom>
        </p:spPr>
      </p:pic>
      <p:pic>
        <p:nvPicPr>
          <p:cNvPr id="1032" name="Picture 8" descr="React original wordmark logo - free Icon PNG, SVG">
            <a:extLst>
              <a:ext uri="{FF2B5EF4-FFF2-40B4-BE49-F238E27FC236}">
                <a16:creationId xmlns:a16="http://schemas.microsoft.com/office/drawing/2014/main" id="{5DC73980-98C5-9785-A457-4C7D7A75979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32774" y="1892552"/>
            <a:ext cx="740664" cy="74066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CD65D3-8135-9271-9730-B8021A7CB13C}"/>
              </a:ext>
            </a:extLst>
          </p:cNvPr>
          <p:cNvPicPr>
            <a:picLocks noChangeAspect="1"/>
          </p:cNvPicPr>
          <p:nvPr/>
        </p:nvPicPr>
        <p:blipFill>
          <a:blip r:embed="rId12"/>
          <a:stretch>
            <a:fillRect/>
          </a:stretch>
        </p:blipFill>
        <p:spPr>
          <a:xfrm>
            <a:off x="853386" y="3030243"/>
            <a:ext cx="1613742" cy="590781"/>
          </a:xfrm>
          <a:prstGeom prst="rect">
            <a:avLst/>
          </a:prstGeom>
        </p:spPr>
      </p:pic>
    </p:spTree>
    <p:extLst>
      <p:ext uri="{BB962C8B-B14F-4D97-AF65-F5344CB8AC3E}">
        <p14:creationId xmlns:p14="http://schemas.microsoft.com/office/powerpoint/2010/main" val="1467725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8B2C-B431-D379-889A-53BAD09B3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E447C-3843-78A3-77C1-634517D284CD}"/>
              </a:ext>
            </a:extLst>
          </p:cNvPr>
          <p:cNvSpPr>
            <a:spLocks noGrp="1"/>
          </p:cNvSpPr>
          <p:nvPr>
            <p:ph type="title"/>
          </p:nvPr>
        </p:nvSpPr>
        <p:spPr>
          <a:xfrm>
            <a:off x="7405561" y="2853000"/>
            <a:ext cx="4132848" cy="576000"/>
          </a:xfrm>
        </p:spPr>
        <p:txBody>
          <a:bodyPr/>
          <a:lstStyle/>
          <a:p>
            <a:r>
              <a:rPr lang="en-US" sz="4800" dirty="0">
                <a:cs typeface="Arial"/>
              </a:rPr>
              <a:t>Thank You!</a:t>
            </a:r>
            <a:endParaRPr lang="en-US" sz="4800" dirty="0"/>
          </a:p>
        </p:txBody>
      </p:sp>
      <p:sp>
        <p:nvSpPr>
          <p:cNvPr id="3" name="Footer Placeholder 2">
            <a:extLst>
              <a:ext uri="{FF2B5EF4-FFF2-40B4-BE49-F238E27FC236}">
                <a16:creationId xmlns:a16="http://schemas.microsoft.com/office/drawing/2014/main" id="{0BC8181A-8F5C-05C8-E9A7-C6BC9630FD4C}"/>
              </a:ext>
            </a:extLst>
          </p:cNvPr>
          <p:cNvSpPr>
            <a:spLocks noGrp="1"/>
          </p:cNvSpPr>
          <p:nvPr>
            <p:ph type="ftr" sz="quarter" idx="10"/>
          </p:nvPr>
        </p:nvSpPr>
        <p:spPr/>
        <p:txBody>
          <a:bodyPr/>
          <a:lstStyle/>
          <a:p>
            <a:pPr>
              <a:lnSpc>
                <a:spcPct val="100000"/>
              </a:lnSpc>
            </a:pPr>
            <a:r>
              <a:rPr lang="en-US"/>
              <a:t>Restricted | © Siemens 2022 | Siemens Digital Industries Software | Author | Department | YYYY-MM-DD</a:t>
            </a:r>
          </a:p>
        </p:txBody>
      </p:sp>
      <p:sp>
        <p:nvSpPr>
          <p:cNvPr id="4" name="Slide Number Placeholder 3">
            <a:extLst>
              <a:ext uri="{FF2B5EF4-FFF2-40B4-BE49-F238E27FC236}">
                <a16:creationId xmlns:a16="http://schemas.microsoft.com/office/drawing/2014/main" id="{C3B102AD-01DC-8435-0463-9EBA8779A0B3}"/>
              </a:ext>
            </a:extLst>
          </p:cNvPr>
          <p:cNvSpPr>
            <a:spLocks noGrp="1"/>
          </p:cNvSpPr>
          <p:nvPr>
            <p:ph type="sldNum" sz="quarter" idx="11"/>
          </p:nvPr>
        </p:nvSpPr>
        <p:spPr/>
        <p:txBody>
          <a:bodyPr/>
          <a:lstStyle/>
          <a:p>
            <a:r>
              <a:rPr lang="en-US"/>
              <a:t>Page </a:t>
            </a:r>
            <a:fld id="{15EBE321-CBB1-4E91-BD14-37C8D44326FB}" type="slidenum">
              <a:rPr lang="en-US" smtClean="0"/>
              <a:pPr/>
              <a:t>14</a:t>
            </a:fld>
            <a:endParaRPr lang="en-US"/>
          </a:p>
        </p:txBody>
      </p:sp>
    </p:spTree>
    <p:extLst>
      <p:ext uri="{BB962C8B-B14F-4D97-AF65-F5344CB8AC3E}">
        <p14:creationId xmlns:p14="http://schemas.microsoft.com/office/powerpoint/2010/main" val="2333264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1d0dbc05-3a44-4456-9e66-49ca854e86c9"/>
  <p:tag name="SLIDO_EVENT_SECTION_UUID" val="46ea54b3-3eaa-4a15-9b48-0fd9a3660750"/>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New PowerPoint Template - Dark" id="{8BA08B6C-8580-4F4A-B58E-435D70D0B644}" vid="{9E5C38DD-7C50-404A-93CC-ED8F5A9E620F}"/>
    </a:ext>
  </a:extLst>
</a:theme>
</file>

<file path=ppt/theme/theme2.xml><?xml version="1.0" encoding="utf-8"?>
<a:theme xmlns:a="http://schemas.openxmlformats.org/drawingml/2006/main" name="1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FFB9"/>
      </a:hlink>
      <a:folHlink>
        <a:srgbClr val="00E6DC"/>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Deep Blue | 0 0 40">
      <a:srgbClr val="000028"/>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Light Sand | 243 243 240">
      <a:srgbClr val="F3F3F0"/>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No color">
      <a:srgbClr val="FFFFFF"/>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sie-di sw-ppt template-oct 2022-v1" id="{2127B322-083D-7244-9A03-2635979BB362}" vid="{865D1B30-66B6-2840-B2F8-574A9A9AED8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20f1149-2863-4b08-896a-3e84f0b0dca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9D0EC2801107F4DA7CDD4CBBA16EC99" ma:contentTypeVersion="9" ma:contentTypeDescription="Create a new document." ma:contentTypeScope="" ma:versionID="c90d76152804a29904a5ad7efe3411aa">
  <xsd:schema xmlns:xsd="http://www.w3.org/2001/XMLSchema" xmlns:xs="http://www.w3.org/2001/XMLSchema" xmlns:p="http://schemas.microsoft.com/office/2006/metadata/properties" xmlns:ns3="b20f1149-2863-4b08-896a-3e84f0b0dca8" targetNamespace="http://schemas.microsoft.com/office/2006/metadata/properties" ma:root="true" ma:fieldsID="b68d79920d957bd547e3058571842611" ns3:_="">
    <xsd:import namespace="b20f1149-2863-4b08-896a-3e84f0b0dca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0f1149-2863-4b08-896a-3e84f0b0dca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4ppTags>
  <Name>One object (small) + Navigation</Name>
  <PpLayout>32</PpLayout>
  <Index>18</Index>
</p4ppTag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2137A9-1D13-4065-A830-4E07AF731A2F}">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20f1149-2863-4b08-896a-3e84f0b0dca8"/>
    <ds:schemaRef ds:uri="http://www.w3.org/XML/1998/namespace"/>
    <ds:schemaRef ds:uri="http://purl.org/dc/dcmitype/"/>
  </ds:schemaRefs>
</ds:datastoreItem>
</file>

<file path=customXml/itemProps2.xml><?xml version="1.0" encoding="utf-8"?>
<ds:datastoreItem xmlns:ds="http://schemas.openxmlformats.org/officeDocument/2006/customXml" ds:itemID="{3E872B0F-80DA-44F9-AC92-8D51717C6F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0f1149-2863-4b08-896a-3e84f0b0dc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CFBB8B-AD74-41A3-A5A5-53ED974541AE}">
  <ds:schemaRefs/>
</ds:datastoreItem>
</file>

<file path=customXml/itemProps4.xml><?xml version="1.0" encoding="utf-8"?>
<ds:datastoreItem xmlns:ds="http://schemas.openxmlformats.org/officeDocument/2006/customXml" ds:itemID="{8E254B30-4911-4228-BF29-A327C579510E}">
  <ds:schemaRefs>
    <ds:schemaRef ds:uri="http://schemas.microsoft.com/sharepoint/v3/contenttype/forms"/>
  </ds:schemaRefs>
</ds:datastoreItem>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otalTime>9495</TotalTime>
  <Words>1031</Words>
  <Application>Microsoft Office PowerPoint</Application>
  <PresentationFormat>Widescreen</PresentationFormat>
  <Paragraphs>146</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Arial,Sans-Serif</vt:lpstr>
      <vt:lpstr>Calibri</vt:lpstr>
      <vt:lpstr>Wingdings</vt:lpstr>
      <vt:lpstr>Siemens 2020</vt:lpstr>
      <vt:lpstr>1_Siemens 2022</vt:lpstr>
      <vt:lpstr>End-Sem Internship Review</vt:lpstr>
      <vt:lpstr>AdvantEdge AI – Siemens DISW GCO</vt:lpstr>
      <vt:lpstr>Mentors</vt:lpstr>
      <vt:lpstr>Internship Work</vt:lpstr>
      <vt:lpstr>RAG Based Azure AI Search Service</vt:lpstr>
      <vt:lpstr>Sample JSON: </vt:lpstr>
      <vt:lpstr>PowerPoint Presentation</vt:lpstr>
      <vt:lpstr>Sample Amesim Model: </vt:lpstr>
      <vt:lpstr>PowerPoint Presentation</vt:lpstr>
      <vt:lpstr>RAG Quality Evaluation:  RAGAS Metrics </vt:lpstr>
      <vt:lpstr>Tracing : Opentelementry in VS code and AI Toolkit</vt:lpstr>
      <vt:lpstr>Chatbot UI in React  using Siemens IX Component Library</vt:lpstr>
      <vt:lpstr>Tech Stack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Hodge, Ashley (DI SW GS&amp;CS GS&amp;S ACA EXP)</dc:creator>
  <cp:keywords>C_Restricted</cp:keywords>
  <cp:lastModifiedBy>Yash Shewalkar</cp:lastModifiedBy>
  <cp:revision>20</cp:revision>
  <dcterms:created xsi:type="dcterms:W3CDTF">2023-03-22T12:32:01Z</dcterms:created>
  <dcterms:modified xsi:type="dcterms:W3CDTF">2026-05-13T12:17:54Z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0x010100C9D0EC2801107F4DA7CDD4CBBA16EC99</vt:lpwstr>
  </property>
  <property fmtid="{D5CDD505-2E9C-101B-9397-08002B2CF9AE}" pid="3" name="Document Confidentiality">
    <vt:lpwstr>Restricted</vt:lpwstr>
  </property>
  <property fmtid="{D5CDD505-2E9C-101B-9397-08002B2CF9AE}" pid="4" name="sodocoClasLang">
    <vt:lpwstr>Restricted</vt:lpwstr>
  </property>
  <property fmtid="{D5CDD505-2E9C-101B-9397-08002B2CF9AE}" pid="5" name="sodocoClasLangId">
    <vt:i4>0</vt:i4>
  </property>
  <property fmtid="{D5CDD505-2E9C-101B-9397-08002B2CF9AE}" pid="6" name="sodocoClasId">
    <vt:i4>1</vt:i4>
  </property>
  <property fmtid="{D5CDD505-2E9C-101B-9397-08002B2CF9AE}" pid="7" name="SlidoAppVersion">
    <vt:lpwstr>1.5.3.3511</vt:lpwstr>
  </property>
  <property fmtid="{D5CDD505-2E9C-101B-9397-08002B2CF9AE}" pid="8" name="MSIP_Label_9d258917-277f-42cd-a3cd-14c4e9ee58bc_Enabled">
    <vt:lpwstr>true</vt:lpwstr>
  </property>
  <property fmtid="{D5CDD505-2E9C-101B-9397-08002B2CF9AE}" pid="9" name="MSIP_Label_9d258917-277f-42cd-a3cd-14c4e9ee58bc_SetDate">
    <vt:lpwstr>2023-11-21T14:59:03Z</vt:lpwstr>
  </property>
  <property fmtid="{D5CDD505-2E9C-101B-9397-08002B2CF9AE}" pid="10" name="MSIP_Label_9d258917-277f-42cd-a3cd-14c4e9ee58bc_Method">
    <vt:lpwstr>Standard</vt:lpwstr>
  </property>
  <property fmtid="{D5CDD505-2E9C-101B-9397-08002B2CF9AE}" pid="11" name="MSIP_Label_9d258917-277f-42cd-a3cd-14c4e9ee58bc_Name">
    <vt:lpwstr>restricted</vt:lpwstr>
  </property>
  <property fmtid="{D5CDD505-2E9C-101B-9397-08002B2CF9AE}" pid="12" name="MSIP_Label_9d258917-277f-42cd-a3cd-14c4e9ee58bc_SiteId">
    <vt:lpwstr>38ae3bcd-9579-4fd4-adda-b42e1495d55a</vt:lpwstr>
  </property>
  <property fmtid="{D5CDD505-2E9C-101B-9397-08002B2CF9AE}" pid="13" name="MSIP_Label_9d258917-277f-42cd-a3cd-14c4e9ee58bc_ActionId">
    <vt:lpwstr>f83a5309-11e1-4e3f-8d57-8478b578f37d</vt:lpwstr>
  </property>
  <property fmtid="{D5CDD505-2E9C-101B-9397-08002B2CF9AE}" pid="14" name="MSIP_Label_9d258917-277f-42cd-a3cd-14c4e9ee58bc_ContentBits">
    <vt:lpwstr>0</vt:lpwstr>
  </property>
  <property fmtid="{D5CDD505-2E9C-101B-9397-08002B2CF9AE}" pid="15" name="Document_Confidentiality">
    <vt:lpwstr>Restricted</vt:lpwstr>
  </property>
  <property fmtid="{D5CDD505-2E9C-101B-9397-08002B2CF9AE}" pid="16" name="MediaServiceImageTags">
    <vt:lpwstr/>
  </property>
</Properties>
</file>